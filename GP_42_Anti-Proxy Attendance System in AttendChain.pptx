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AttendChain is a blockchain-based anti-proxy attendance system. The one-line idea: attendance records you cannot fake, edit, or delete. Built on Ethereum with Solidity, Hardhat, and a web UI using ethers.js.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proxy attendance, where a student marks present for an absent friend; editable records that can be changed after the fact; and no way to independently verify. The root cause is that one party controls the truth, so the record is only as trustworthy and permanent as they allow. The question: can we remove the need to trust anyone?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Blockchain gives us four properties for free: records are immutable, every action is signed by a private key proving identity, everything is transparent and independently verifiable, and there is no super-admin who can rewrite history. These are exactly the properties a trustworthy attendance record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has four roles. The admin registers students and teachers. A teacher opens a session for the class and closes it afterward. A student marks their own attendance from their own wallet. And anyone can verify the attendee list. The key design move: the contract always credits msg.sender, so a student can only ever mark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classic attack maps to a guarantee. Proxy attendance is blocked because you can only sign with your own key. Double marking is blocked by storing one mark per student per session. Back-dating is blocked because you can only mark while the session is open. And tampering or deletion is impossible because records are immutable on-chain, even for the admin.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the web UI is plain HTML with ethers.js. Actions go through MetaMask, which signs them with the user's key. Those signed transactions hit the AttendChain smart contract, which enforces all the rules and stores the data on the Ethereum chain, running locally on Hardhat. Every button click becomes a signed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the admin registers students and opens a session; a registered student marks present; marking twice is rejected with Already marked; an unregistered account is rejected, which is the anti-proxy guarantee; the teacher closes the session so no more marking is possible; and anyone can load the tamper-proof attendee list. All of this is backed by fifteen automated tests, all passing, covering proxy prevention, double marking, back-dating, and role enforcement.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summary, AttendChain delivers trustless attendance by design. Proxy attendance, double marking, back-dating, and tampering are all prevented on-chain. There is no central authority to trust, the rules are the contract itself, and it works end to end with a Solidity contract, fifteen passing tests, and a live web UI.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2A33"/>
        </a:solidFill>
      </p:bgPr>
    </p:bg>
    <p:spTree>
      <p:nvGrpSpPr>
        <p:cNvPr id="1" name=""/>
        <p:cNvGrpSpPr/>
        <p:nvPr/>
      </p:nvGrpSpPr>
      <p:grpSpPr>
        <a:xfrm>
          <a:off x="0" y="0"/>
          <a:ext cx="0" cy="0"/>
          <a:chOff x="0" y="0"/>
          <a:chExt cx="0" cy="0"/>
        </a:xfrm>
      </p:grpSpPr>
      <p:sp>
        <p:nvSpPr>
          <p:cNvPr id="2" name="Shape 0"/>
          <p:cNvSpPr/>
          <p:nvPr/>
        </p:nvSpPr>
        <p:spPr>
          <a:xfrm>
            <a:off x="8686800" y="640080"/>
            <a:ext cx="822960" cy="822960"/>
          </a:xfrm>
          <a:prstGeom prst="ellipse">
            <a:avLst/>
          </a:prstGeom>
          <a:ln w="31750">
            <a:solidFill>
              <a:srgbClr val="02C39A">
                <a:alpha val="45000"/>
              </a:srgbClr>
            </a:solidFill>
            <a:prstDash val="solid"/>
          </a:ln>
        </p:spPr>
      </p:sp>
      <p:sp>
        <p:nvSpPr>
          <p:cNvPr id="3" name="Shape 1"/>
          <p:cNvSpPr/>
          <p:nvPr/>
        </p:nvSpPr>
        <p:spPr>
          <a:xfrm>
            <a:off x="9253728" y="640080"/>
            <a:ext cx="822960" cy="822960"/>
          </a:xfrm>
          <a:prstGeom prst="ellipse">
            <a:avLst/>
          </a:prstGeom>
          <a:ln w="31750">
            <a:solidFill>
              <a:srgbClr val="02C39A">
                <a:alpha val="45000"/>
              </a:srgbClr>
            </a:solidFill>
            <a:prstDash val="solid"/>
          </a:ln>
        </p:spPr>
      </p:sp>
      <p:sp>
        <p:nvSpPr>
          <p:cNvPr id="4" name="Shape 2"/>
          <p:cNvSpPr/>
          <p:nvPr/>
        </p:nvSpPr>
        <p:spPr>
          <a:xfrm>
            <a:off x="9820656" y="640080"/>
            <a:ext cx="822960" cy="822960"/>
          </a:xfrm>
          <a:prstGeom prst="ellipse">
            <a:avLst/>
          </a:prstGeom>
          <a:ln w="31750">
            <a:solidFill>
              <a:srgbClr val="02C39A">
                <a:alpha val="45000"/>
              </a:srgbClr>
            </a:solidFill>
            <a:prstDash val="solid"/>
          </a:ln>
        </p:spPr>
      </p:sp>
      <p:sp>
        <p:nvSpPr>
          <p:cNvPr id="5" name="Shape 3"/>
          <p:cNvSpPr/>
          <p:nvPr/>
        </p:nvSpPr>
        <p:spPr>
          <a:xfrm>
            <a:off x="10387584" y="640080"/>
            <a:ext cx="822960" cy="822960"/>
          </a:xfrm>
          <a:prstGeom prst="ellipse">
            <a:avLst/>
          </a:prstGeom>
          <a:ln w="31750">
            <a:solidFill>
              <a:srgbClr val="02C39A">
                <a:alpha val="45000"/>
              </a:srgbClr>
            </a:solidFill>
            <a:prstDash val="solid"/>
          </a:ln>
        </p:spPr>
      </p:sp>
      <p:sp>
        <p:nvSpPr>
          <p:cNvPr id="6" name="Shape 4"/>
          <p:cNvSpPr/>
          <p:nvPr/>
        </p:nvSpPr>
        <p:spPr>
          <a:xfrm>
            <a:off x="10954512" y="640080"/>
            <a:ext cx="822960" cy="822960"/>
          </a:xfrm>
          <a:prstGeom prst="ellipse">
            <a:avLst/>
          </a:prstGeom>
          <a:ln w="31750">
            <a:solidFill>
              <a:srgbClr val="02C39A">
                <a:alpha val="45000"/>
              </a:srgbClr>
            </a:solidFill>
            <a:prstDash val="solid"/>
          </a:ln>
        </p:spPr>
      </p:sp>
      <p:sp>
        <p:nvSpPr>
          <p:cNvPr id="7" name="Text 5"/>
          <p:cNvSpPr txBox="1"/>
          <p:nvPr/>
        </p:nvSpPr>
        <p:spPr>
          <a:xfrm>
            <a:off x="548640" y="640080"/>
            <a:ext cx="1554480" cy="457200"/>
          </a:xfrm>
          <a:prstGeom prst="roundRect">
            <a:avLst>
              <a:gd name="adj" fmla="val 20000"/>
            </a:avLst>
          </a:prstGeom>
          <a:solidFill>
            <a:srgbClr val="02C39A"/>
          </a:solidFill>
          <a:ln/>
        </p:spPr>
        <p:txBody>
          <a:bodyPr wrap="square" lIns="0" tIns="0" rIns="0" bIns="0" rtlCol="0" anchor="ctr"/>
          <a:lstStyle/>
          <a:p>
            <a:pPr algn="ctr" indent="0" marL="0">
              <a:buNone/>
            </a:pPr>
            <a:r>
              <a:rPr lang="en-US" sz="1500" b="1" dirty="0">
                <a:solidFill>
                  <a:srgbClr val="0C2A33"/>
                </a:solidFill>
                <a:latin typeface="Calibri" pitchFamily="34" charset="0"/>
                <a:ea typeface="Calibri" pitchFamily="34" charset="-122"/>
                <a:cs typeface="Calibri" pitchFamily="34" charset="-120"/>
              </a:rPr>
              <a:t>GP_42</a:t>
            </a:r>
            <a:endParaRPr lang="en-US" sz="1500" dirty="0"/>
          </a:p>
        </p:txBody>
      </p:sp>
      <p:sp>
        <p:nvSpPr>
          <p:cNvPr id="8" name="Text 6"/>
          <p:cNvSpPr txBox="1"/>
          <p:nvPr/>
        </p:nvSpPr>
        <p:spPr>
          <a:xfrm>
            <a:off x="548640" y="2148840"/>
            <a:ext cx="10058400" cy="1280160"/>
          </a:xfrm>
          <a:prstGeom prst="rect">
            <a:avLst/>
          </a:prstGeom>
          <a:noFill/>
          <a:ln/>
        </p:spPr>
        <p:txBody>
          <a:bodyPr wrap="square" lIns="0" tIns="0" rIns="0" bIns="0" rtlCol="0" anchor="ctr"/>
          <a:lstStyle/>
          <a:p>
            <a:pPr indent="0" marL="0">
              <a:buNone/>
            </a:pPr>
            <a:r>
              <a:rPr lang="en-US" sz="7600" b="1" dirty="0">
                <a:solidFill>
                  <a:srgbClr val="FFFFFF"/>
                </a:solidFill>
                <a:latin typeface="Cambria" pitchFamily="34" charset="0"/>
                <a:ea typeface="Cambria" pitchFamily="34" charset="-122"/>
                <a:cs typeface="Cambria" pitchFamily="34" charset="-120"/>
              </a:rPr>
              <a:t>AttendChain</a:t>
            </a:r>
            <a:endParaRPr lang="en-US" sz="7600" dirty="0"/>
          </a:p>
        </p:txBody>
      </p:sp>
      <p:sp>
        <p:nvSpPr>
          <p:cNvPr id="9" name="Text 7"/>
          <p:cNvSpPr txBox="1"/>
          <p:nvPr/>
        </p:nvSpPr>
        <p:spPr>
          <a:xfrm>
            <a:off x="548640" y="3383280"/>
            <a:ext cx="10515600" cy="548640"/>
          </a:xfrm>
          <a:prstGeom prst="rect">
            <a:avLst/>
          </a:prstGeom>
          <a:noFill/>
          <a:ln/>
        </p:spPr>
        <p:txBody>
          <a:bodyPr wrap="square" lIns="0" tIns="0" rIns="0" bIns="0" rtlCol="0" anchor="ctr"/>
          <a:lstStyle/>
          <a:p>
            <a:pPr indent="0" marL="0">
              <a:buNone/>
            </a:pPr>
            <a:r>
              <a:rPr lang="en-US" sz="2600" dirty="0">
                <a:solidFill>
                  <a:srgbClr val="CFE6E4"/>
                </a:solidFill>
                <a:latin typeface="Cambria" pitchFamily="34" charset="0"/>
                <a:ea typeface="Cambria" pitchFamily="34" charset="-122"/>
                <a:cs typeface="Cambria" pitchFamily="34" charset="-120"/>
              </a:rPr>
              <a:t>Blockchain-Based </a:t>
            </a:r>
            <a:pPr indent="0" marL="0">
              <a:buNone/>
            </a:pPr>
            <a:r>
              <a:rPr lang="en-US" sz="2600" dirty="0">
                <a:solidFill>
                  <a:srgbClr val="02C39A"/>
                </a:solidFill>
                <a:latin typeface="Cambria" pitchFamily="34" charset="0"/>
                <a:ea typeface="Cambria" pitchFamily="34" charset="-122"/>
                <a:cs typeface="Cambria" pitchFamily="34" charset="-120"/>
              </a:rPr>
              <a:t>Anti-Proxy Attendance</a:t>
            </a:r>
            <a:pPr indent="0" marL="0">
              <a:buNone/>
            </a:pPr>
            <a:r>
              <a:rPr lang="en-US" sz="2600" dirty="0">
                <a:solidFill>
                  <a:srgbClr val="CFE6E4"/>
                </a:solidFill>
                <a:latin typeface="Cambria" pitchFamily="34" charset="0"/>
                <a:ea typeface="Cambria" pitchFamily="34" charset="-122"/>
                <a:cs typeface="Cambria" pitchFamily="34" charset="-120"/>
              </a:rPr>
              <a:t> System</a:t>
            </a:r>
            <a:endParaRPr lang="en-US" sz="2600" dirty="0"/>
          </a:p>
        </p:txBody>
      </p:sp>
      <p:sp>
        <p:nvSpPr>
          <p:cNvPr id="10" name="Text 8"/>
          <p:cNvSpPr txBox="1"/>
          <p:nvPr/>
        </p:nvSpPr>
        <p:spPr>
          <a:xfrm>
            <a:off x="548640" y="4114800"/>
            <a:ext cx="10058400" cy="457200"/>
          </a:xfrm>
          <a:prstGeom prst="rect">
            <a:avLst/>
          </a:prstGeom>
          <a:noFill/>
          <a:ln/>
        </p:spPr>
        <p:txBody>
          <a:bodyPr wrap="square" lIns="0" tIns="0" rIns="0" bIns="0" rtlCol="0" anchor="ctr"/>
          <a:lstStyle/>
          <a:p>
            <a:pPr indent="0" marL="0">
              <a:buNone/>
            </a:pPr>
            <a:r>
              <a:rPr lang="en-US" sz="1700" i="1" dirty="0">
                <a:solidFill>
                  <a:srgbClr val="9FBDBD"/>
                </a:solidFill>
                <a:latin typeface="Calibri" pitchFamily="34" charset="0"/>
                <a:ea typeface="Calibri" pitchFamily="34" charset="-122"/>
                <a:cs typeface="Calibri" pitchFamily="34" charset="-120"/>
              </a:rPr>
              <a:t>Attendance you cannot fake, edit, or delete.</a:t>
            </a:r>
            <a:endParaRPr lang="en-US" sz="1700" dirty="0"/>
          </a:p>
        </p:txBody>
      </p:sp>
      <p:sp>
        <p:nvSpPr>
          <p:cNvPr id="11" name="Text 9"/>
          <p:cNvSpPr txBox="1"/>
          <p:nvPr/>
        </p:nvSpPr>
        <p:spPr>
          <a:xfrm>
            <a:off x="548640" y="5120640"/>
            <a:ext cx="1645920" cy="457200"/>
          </a:xfrm>
          <a:prstGeom prst="roundRect">
            <a:avLst>
              <a:gd name="adj" fmla="val 50000"/>
            </a:avLst>
          </a:prstGeom>
          <a:solidFill>
            <a:srgbClr val="0F3742"/>
          </a:solidFill>
          <a:ln w="12700">
            <a:solidFill>
              <a:srgbClr val="028090"/>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Ethereum</a:t>
            </a:r>
            <a:endParaRPr lang="en-US" sz="1300" dirty="0"/>
          </a:p>
        </p:txBody>
      </p:sp>
      <p:sp>
        <p:nvSpPr>
          <p:cNvPr id="12" name="Text 10"/>
          <p:cNvSpPr txBox="1"/>
          <p:nvPr/>
        </p:nvSpPr>
        <p:spPr>
          <a:xfrm>
            <a:off x="2331720" y="5120640"/>
            <a:ext cx="1645920" cy="457200"/>
          </a:xfrm>
          <a:prstGeom prst="roundRect">
            <a:avLst>
              <a:gd name="adj" fmla="val 50000"/>
            </a:avLst>
          </a:prstGeom>
          <a:solidFill>
            <a:srgbClr val="0F3742"/>
          </a:solidFill>
          <a:ln w="12700">
            <a:solidFill>
              <a:srgbClr val="028090"/>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Solidity</a:t>
            </a:r>
            <a:endParaRPr lang="en-US" sz="1300" dirty="0"/>
          </a:p>
        </p:txBody>
      </p:sp>
      <p:sp>
        <p:nvSpPr>
          <p:cNvPr id="13" name="Text 11"/>
          <p:cNvSpPr txBox="1"/>
          <p:nvPr/>
        </p:nvSpPr>
        <p:spPr>
          <a:xfrm>
            <a:off x="4114800" y="5120640"/>
            <a:ext cx="1645920" cy="457200"/>
          </a:xfrm>
          <a:prstGeom prst="roundRect">
            <a:avLst>
              <a:gd name="adj" fmla="val 50000"/>
            </a:avLst>
          </a:prstGeom>
          <a:solidFill>
            <a:srgbClr val="0F3742"/>
          </a:solidFill>
          <a:ln w="12700">
            <a:solidFill>
              <a:srgbClr val="028090"/>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Hardhat</a:t>
            </a:r>
            <a:endParaRPr lang="en-US" sz="1300" dirty="0"/>
          </a:p>
        </p:txBody>
      </p:sp>
      <p:sp>
        <p:nvSpPr>
          <p:cNvPr id="14" name="Text 12"/>
          <p:cNvSpPr txBox="1"/>
          <p:nvPr/>
        </p:nvSpPr>
        <p:spPr>
          <a:xfrm>
            <a:off x="5897880" y="5120640"/>
            <a:ext cx="1645920" cy="457200"/>
          </a:xfrm>
          <a:prstGeom prst="roundRect">
            <a:avLst>
              <a:gd name="adj" fmla="val 50000"/>
            </a:avLst>
          </a:prstGeom>
          <a:solidFill>
            <a:srgbClr val="0F3742"/>
          </a:solidFill>
          <a:ln w="12700">
            <a:solidFill>
              <a:srgbClr val="028090"/>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ethers.js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6F7"/>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300" kern="0" dirty="0">
                <a:solidFill>
                  <a:srgbClr val="028090"/>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48640" y="713232"/>
            <a:ext cx="11094415" cy="731520"/>
          </a:xfrm>
          <a:prstGeom prst="rect">
            <a:avLst/>
          </a:prstGeom>
          <a:noFill/>
          <a:ln/>
        </p:spPr>
        <p:txBody>
          <a:bodyPr wrap="square" lIns="0" tIns="0" rIns="0" bIns="0" rtlCol="0" anchor="ctr"/>
          <a:lstStyle/>
          <a:p>
            <a:pPr indent="0" marL="0">
              <a:buNone/>
            </a:pPr>
            <a:r>
              <a:rPr lang="en-US" sz="3400" b="1" dirty="0">
                <a:solidFill>
                  <a:srgbClr val="17323B"/>
                </a:solidFill>
                <a:latin typeface="Cambria" pitchFamily="34" charset="0"/>
                <a:ea typeface="Cambria" pitchFamily="34" charset="-122"/>
                <a:cs typeface="Cambria" pitchFamily="34" charset="-120"/>
              </a:rPr>
              <a:t>Attendance is easy to fake</a:t>
            </a:r>
            <a:endParaRPr lang="en-US" sz="3400" dirty="0"/>
          </a:p>
        </p:txBody>
      </p:sp>
      <p:sp>
        <p:nvSpPr>
          <p:cNvPr id="4" name="Text 2"/>
          <p:cNvSpPr txBox="1"/>
          <p:nvPr/>
        </p:nvSpPr>
        <p:spPr>
          <a:xfrm>
            <a:off x="548640" y="1554480"/>
            <a:ext cx="5486400" cy="914400"/>
          </a:xfrm>
          <a:prstGeom prst="rect">
            <a:avLst/>
          </a:prstGeom>
          <a:noFill/>
          <a:ln/>
        </p:spPr>
        <p:txBody>
          <a:bodyPr wrap="square" lIns="0" tIns="0" rIns="0" bIns="0" rtlCol="0" anchor="ctr"/>
          <a:lstStyle/>
          <a:p>
            <a:pPr indent="0" marL="0">
              <a:buNone/>
            </a:pPr>
            <a:r>
              <a:rPr lang="en-US" sz="1600" dirty="0">
                <a:solidFill>
                  <a:srgbClr val="17323B"/>
                </a:solidFill>
                <a:latin typeface="Calibri" pitchFamily="34" charset="0"/>
                <a:ea typeface="Calibri" pitchFamily="34" charset="-122"/>
                <a:cs typeface="Calibri" pitchFamily="34" charset="-120"/>
              </a:rPr>
              <a:t>Today attendance is taken on paper registers or apps that a single authority controls. Three things go wrong:</a:t>
            </a:r>
            <a:endParaRPr lang="en-US" sz="1600" dirty="0"/>
          </a:p>
        </p:txBody>
      </p:sp>
      <p:sp>
        <p:nvSpPr>
          <p:cNvPr id="5" name="Shape 3"/>
          <p:cNvSpPr/>
          <p:nvPr/>
        </p:nvSpPr>
        <p:spPr>
          <a:xfrm>
            <a:off x="548640" y="2743200"/>
            <a:ext cx="5486400" cy="1005840"/>
          </a:xfrm>
          <a:prstGeom prst="roundRect">
            <a:avLst>
              <a:gd name="adj" fmla="val 10909"/>
            </a:avLst>
          </a:prstGeom>
          <a:solidFill>
            <a:srgbClr val="FFFFFF"/>
          </a:solidFill>
          <a:ln w="12700">
            <a:solidFill>
              <a:srgbClr val="DCE6E8"/>
            </a:solidFill>
            <a:prstDash val="solid"/>
          </a:ln>
          <a:effectLst>
            <a:outerShdw sx="100000" sy="100000" kx="0" ky="0" algn="bl" rotWithShape="0" blurRad="114300" dist="38100" dir="5400000">
              <a:srgbClr val="0C2A33">
                <a:alpha val="16000"/>
              </a:srgbClr>
            </a:outerShdw>
          </a:effectLst>
        </p:spPr>
      </p:sp>
      <p:sp>
        <p:nvSpPr>
          <p:cNvPr id="6" name="Shape 4"/>
          <p:cNvSpPr/>
          <p:nvPr/>
        </p:nvSpPr>
        <p:spPr>
          <a:xfrm>
            <a:off x="749808" y="2971800"/>
            <a:ext cx="548640" cy="548640"/>
          </a:xfrm>
          <a:prstGeom prst="ellipse">
            <a:avLst/>
          </a:prstGeom>
          <a:solidFill>
            <a:srgbClr val="E4572E"/>
          </a:solidFill>
          <a:ln/>
        </p:spPr>
      </p:sp>
      <p:sp>
        <p:nvSpPr>
          <p:cNvPr id="7" name="Text 5"/>
          <p:cNvSpPr txBox="1"/>
          <p:nvPr/>
        </p:nvSpPr>
        <p:spPr>
          <a:xfrm>
            <a:off x="749808" y="29718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8" name="Text 6"/>
          <p:cNvSpPr txBox="1"/>
          <p:nvPr/>
        </p:nvSpPr>
        <p:spPr>
          <a:xfrm>
            <a:off x="1463040" y="2871216"/>
            <a:ext cx="4389120" cy="320040"/>
          </a:xfrm>
          <a:prstGeom prst="rect">
            <a:avLst/>
          </a:prstGeom>
          <a:noFill/>
          <a:ln/>
        </p:spPr>
        <p:txBody>
          <a:bodyPr wrap="square" lIns="0" tIns="0" rIns="0" bIns="0" rtlCol="0" anchor="ctr"/>
          <a:lstStyle/>
          <a:p>
            <a:pPr indent="0" marL="0">
              <a:buNone/>
            </a:pPr>
            <a:r>
              <a:rPr lang="en-US" sz="1600" b="1" dirty="0">
                <a:solidFill>
                  <a:srgbClr val="17323B"/>
                </a:solidFill>
                <a:latin typeface="Cambria" pitchFamily="34" charset="0"/>
                <a:ea typeface="Cambria" pitchFamily="34" charset="-122"/>
                <a:cs typeface="Cambria" pitchFamily="34" charset="-120"/>
              </a:rPr>
              <a:t>Proxy attendance</a:t>
            </a:r>
            <a:endParaRPr lang="en-US" sz="1600" dirty="0"/>
          </a:p>
        </p:txBody>
      </p:sp>
      <p:sp>
        <p:nvSpPr>
          <p:cNvPr id="9" name="Text 7"/>
          <p:cNvSpPr txBox="1"/>
          <p:nvPr/>
        </p:nvSpPr>
        <p:spPr>
          <a:xfrm>
            <a:off x="1463040" y="3200400"/>
            <a:ext cx="4389120" cy="457200"/>
          </a:xfrm>
          <a:prstGeom prst="rect">
            <a:avLst/>
          </a:prstGeom>
          <a:noFill/>
          <a:ln/>
        </p:spPr>
        <p:txBody>
          <a:bodyPr wrap="square" lIns="0" tIns="0" rIns="0" bIns="0" rtlCol="0" anchor="ctr"/>
          <a:lstStyle/>
          <a:p>
            <a:pPr indent="0" marL="0">
              <a:buNone/>
            </a:pPr>
            <a:r>
              <a:rPr lang="en-US" sz="1250" dirty="0">
                <a:solidFill>
                  <a:srgbClr val="5C7079"/>
                </a:solidFill>
                <a:latin typeface="Calibri" pitchFamily="34" charset="0"/>
                <a:ea typeface="Calibri" pitchFamily="34" charset="-122"/>
                <a:cs typeface="Calibri" pitchFamily="34" charset="-120"/>
              </a:rPr>
              <a:t>A student marks “present” for an absent friend. Nobody can tell.</a:t>
            </a:r>
            <a:endParaRPr lang="en-US" sz="1250" dirty="0"/>
          </a:p>
        </p:txBody>
      </p:sp>
      <p:sp>
        <p:nvSpPr>
          <p:cNvPr id="10" name="Shape 8"/>
          <p:cNvSpPr/>
          <p:nvPr/>
        </p:nvSpPr>
        <p:spPr>
          <a:xfrm>
            <a:off x="548640" y="3886200"/>
            <a:ext cx="5486400" cy="1005840"/>
          </a:xfrm>
          <a:prstGeom prst="roundRect">
            <a:avLst>
              <a:gd name="adj" fmla="val 10909"/>
            </a:avLst>
          </a:prstGeom>
          <a:solidFill>
            <a:srgbClr val="FFFFFF"/>
          </a:solidFill>
          <a:ln w="12700">
            <a:solidFill>
              <a:srgbClr val="DCE6E8"/>
            </a:solidFill>
            <a:prstDash val="solid"/>
          </a:ln>
          <a:effectLst>
            <a:outerShdw sx="100000" sy="100000" kx="0" ky="0" algn="bl" rotWithShape="0" blurRad="114300" dist="38100" dir="5400000">
              <a:srgbClr val="0C2A33">
                <a:alpha val="16000"/>
              </a:srgbClr>
            </a:outerShdw>
          </a:effectLst>
        </p:spPr>
      </p:sp>
      <p:sp>
        <p:nvSpPr>
          <p:cNvPr id="11" name="Shape 9"/>
          <p:cNvSpPr/>
          <p:nvPr/>
        </p:nvSpPr>
        <p:spPr>
          <a:xfrm>
            <a:off x="749808" y="4114800"/>
            <a:ext cx="548640" cy="548640"/>
          </a:xfrm>
          <a:prstGeom prst="ellipse">
            <a:avLst/>
          </a:prstGeom>
          <a:solidFill>
            <a:srgbClr val="E4572E"/>
          </a:solidFill>
          <a:ln/>
        </p:spPr>
      </p:sp>
      <p:sp>
        <p:nvSpPr>
          <p:cNvPr id="12" name="Text 10"/>
          <p:cNvSpPr txBox="1"/>
          <p:nvPr/>
        </p:nvSpPr>
        <p:spPr>
          <a:xfrm>
            <a:off x="749808" y="41148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13" name="Text 11"/>
          <p:cNvSpPr txBox="1"/>
          <p:nvPr/>
        </p:nvSpPr>
        <p:spPr>
          <a:xfrm>
            <a:off x="1463040" y="4014216"/>
            <a:ext cx="4389120" cy="320040"/>
          </a:xfrm>
          <a:prstGeom prst="rect">
            <a:avLst/>
          </a:prstGeom>
          <a:noFill/>
          <a:ln/>
        </p:spPr>
        <p:txBody>
          <a:bodyPr wrap="square" lIns="0" tIns="0" rIns="0" bIns="0" rtlCol="0" anchor="ctr"/>
          <a:lstStyle/>
          <a:p>
            <a:pPr indent="0" marL="0">
              <a:buNone/>
            </a:pPr>
            <a:r>
              <a:rPr lang="en-US" sz="1600" b="1" dirty="0">
                <a:solidFill>
                  <a:srgbClr val="17323B"/>
                </a:solidFill>
                <a:latin typeface="Cambria" pitchFamily="34" charset="0"/>
                <a:ea typeface="Cambria" pitchFamily="34" charset="-122"/>
                <a:cs typeface="Cambria" pitchFamily="34" charset="-120"/>
              </a:rPr>
              <a:t>Editable records</a:t>
            </a:r>
            <a:endParaRPr lang="en-US" sz="1600" dirty="0"/>
          </a:p>
        </p:txBody>
      </p:sp>
      <p:sp>
        <p:nvSpPr>
          <p:cNvPr id="14" name="Text 12"/>
          <p:cNvSpPr txBox="1"/>
          <p:nvPr/>
        </p:nvSpPr>
        <p:spPr>
          <a:xfrm>
            <a:off x="1463040" y="4343400"/>
            <a:ext cx="4389120" cy="457200"/>
          </a:xfrm>
          <a:prstGeom prst="rect">
            <a:avLst/>
          </a:prstGeom>
          <a:noFill/>
          <a:ln/>
        </p:spPr>
        <p:txBody>
          <a:bodyPr wrap="square" lIns="0" tIns="0" rIns="0" bIns="0" rtlCol="0" anchor="ctr"/>
          <a:lstStyle/>
          <a:p>
            <a:pPr indent="0" marL="0">
              <a:buNone/>
            </a:pPr>
            <a:r>
              <a:rPr lang="en-US" sz="1250" dirty="0">
                <a:solidFill>
                  <a:srgbClr val="5C7079"/>
                </a:solidFill>
                <a:latin typeface="Calibri" pitchFamily="34" charset="0"/>
                <a:ea typeface="Calibri" pitchFamily="34" charset="-122"/>
                <a:cs typeface="Calibri" pitchFamily="34" charset="-120"/>
              </a:rPr>
              <a:t>Registers and databases can be changed after class — silently.</a:t>
            </a:r>
            <a:endParaRPr lang="en-US" sz="1250" dirty="0"/>
          </a:p>
        </p:txBody>
      </p:sp>
      <p:sp>
        <p:nvSpPr>
          <p:cNvPr id="15" name="Shape 13"/>
          <p:cNvSpPr/>
          <p:nvPr/>
        </p:nvSpPr>
        <p:spPr>
          <a:xfrm>
            <a:off x="548640" y="5029200"/>
            <a:ext cx="5486400" cy="1005840"/>
          </a:xfrm>
          <a:prstGeom prst="roundRect">
            <a:avLst>
              <a:gd name="adj" fmla="val 10909"/>
            </a:avLst>
          </a:prstGeom>
          <a:solidFill>
            <a:srgbClr val="FFFFFF"/>
          </a:solidFill>
          <a:ln w="12700">
            <a:solidFill>
              <a:srgbClr val="DCE6E8"/>
            </a:solidFill>
            <a:prstDash val="solid"/>
          </a:ln>
          <a:effectLst>
            <a:outerShdw sx="100000" sy="100000" kx="0" ky="0" algn="bl" rotWithShape="0" blurRad="114300" dist="38100" dir="5400000">
              <a:srgbClr val="0C2A33">
                <a:alpha val="16000"/>
              </a:srgbClr>
            </a:outerShdw>
          </a:effectLst>
        </p:spPr>
      </p:sp>
      <p:sp>
        <p:nvSpPr>
          <p:cNvPr id="16" name="Shape 14"/>
          <p:cNvSpPr/>
          <p:nvPr/>
        </p:nvSpPr>
        <p:spPr>
          <a:xfrm>
            <a:off x="749808" y="5257800"/>
            <a:ext cx="548640" cy="548640"/>
          </a:xfrm>
          <a:prstGeom prst="ellipse">
            <a:avLst/>
          </a:prstGeom>
          <a:solidFill>
            <a:srgbClr val="E4572E"/>
          </a:solidFill>
          <a:ln/>
        </p:spPr>
      </p:sp>
      <p:sp>
        <p:nvSpPr>
          <p:cNvPr id="17" name="Text 15"/>
          <p:cNvSpPr txBox="1"/>
          <p:nvPr/>
        </p:nvSpPr>
        <p:spPr>
          <a:xfrm>
            <a:off x="749808" y="52578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18" name="Text 16"/>
          <p:cNvSpPr txBox="1"/>
          <p:nvPr/>
        </p:nvSpPr>
        <p:spPr>
          <a:xfrm>
            <a:off x="1463040" y="5157216"/>
            <a:ext cx="4389120" cy="320040"/>
          </a:xfrm>
          <a:prstGeom prst="rect">
            <a:avLst/>
          </a:prstGeom>
          <a:noFill/>
          <a:ln/>
        </p:spPr>
        <p:txBody>
          <a:bodyPr wrap="square" lIns="0" tIns="0" rIns="0" bIns="0" rtlCol="0" anchor="ctr"/>
          <a:lstStyle/>
          <a:p>
            <a:pPr indent="0" marL="0">
              <a:buNone/>
            </a:pPr>
            <a:r>
              <a:rPr lang="en-US" sz="1600" b="1" dirty="0">
                <a:solidFill>
                  <a:srgbClr val="17323B"/>
                </a:solidFill>
                <a:latin typeface="Cambria" pitchFamily="34" charset="0"/>
                <a:ea typeface="Cambria" pitchFamily="34" charset="-122"/>
                <a:cs typeface="Cambria" pitchFamily="34" charset="-120"/>
              </a:rPr>
              <a:t>No real verification</a:t>
            </a:r>
            <a:endParaRPr lang="en-US" sz="1600" dirty="0"/>
          </a:p>
        </p:txBody>
      </p:sp>
      <p:sp>
        <p:nvSpPr>
          <p:cNvPr id="19" name="Text 17"/>
          <p:cNvSpPr txBox="1"/>
          <p:nvPr/>
        </p:nvSpPr>
        <p:spPr>
          <a:xfrm>
            <a:off x="1463040" y="5486400"/>
            <a:ext cx="4389120" cy="457200"/>
          </a:xfrm>
          <a:prstGeom prst="rect">
            <a:avLst/>
          </a:prstGeom>
          <a:noFill/>
          <a:ln/>
        </p:spPr>
        <p:txBody>
          <a:bodyPr wrap="square" lIns="0" tIns="0" rIns="0" bIns="0" rtlCol="0" anchor="ctr"/>
          <a:lstStyle/>
          <a:p>
            <a:pPr indent="0" marL="0">
              <a:buNone/>
            </a:pPr>
            <a:r>
              <a:rPr lang="en-US" sz="1250" dirty="0">
                <a:solidFill>
                  <a:srgbClr val="5C7079"/>
                </a:solidFill>
                <a:latin typeface="Calibri" pitchFamily="34" charset="0"/>
                <a:ea typeface="Calibri" pitchFamily="34" charset="-122"/>
                <a:cs typeface="Calibri" pitchFamily="34" charset="-120"/>
              </a:rPr>
              <a:t>You have to trust whoever holds the data. There is no proof.</a:t>
            </a:r>
            <a:endParaRPr lang="en-US" sz="1250" dirty="0"/>
          </a:p>
        </p:txBody>
      </p:sp>
      <p:sp>
        <p:nvSpPr>
          <p:cNvPr id="20" name="Shape 18"/>
          <p:cNvSpPr/>
          <p:nvPr/>
        </p:nvSpPr>
        <p:spPr>
          <a:xfrm>
            <a:off x="6492240" y="1554480"/>
            <a:ext cx="5120640" cy="4617720"/>
          </a:xfrm>
          <a:prstGeom prst="roundRect">
            <a:avLst>
              <a:gd name="adj" fmla="val 2376"/>
            </a:avLst>
          </a:prstGeom>
          <a:solidFill>
            <a:srgbClr val="0C2A33"/>
          </a:solidFill>
          <a:ln w="12700">
            <a:solidFill>
              <a:srgbClr val="DCE6E8"/>
            </a:solidFill>
            <a:prstDash val="solid"/>
          </a:ln>
          <a:effectLst>
            <a:outerShdw sx="100000" sy="100000" kx="0" ky="0" algn="bl" rotWithShape="0" blurRad="114300" dist="38100" dir="5400000">
              <a:srgbClr val="0C2A33">
                <a:alpha val="16000"/>
              </a:srgbClr>
            </a:outerShdw>
          </a:effectLst>
        </p:spPr>
      </p:sp>
      <p:sp>
        <p:nvSpPr>
          <p:cNvPr id="21" name="Text 19"/>
          <p:cNvSpPr txBox="1"/>
          <p:nvPr/>
        </p:nvSpPr>
        <p:spPr>
          <a:xfrm>
            <a:off x="6766560" y="1828800"/>
            <a:ext cx="4572000" cy="365760"/>
          </a:xfrm>
          <a:prstGeom prst="rect">
            <a:avLst/>
          </a:prstGeom>
          <a:noFill/>
          <a:ln/>
        </p:spPr>
        <p:txBody>
          <a:bodyPr wrap="square" lIns="0" tIns="0" rIns="0" bIns="0" rtlCol="0" anchor="ctr"/>
          <a:lstStyle/>
          <a:p>
            <a:pPr indent="0" marL="0">
              <a:buNone/>
            </a:pPr>
            <a:r>
              <a:rPr lang="en-US" sz="1300" b="1" spc="200" kern="0" dirty="0">
                <a:solidFill>
                  <a:srgbClr val="02C39A"/>
                </a:solidFill>
                <a:latin typeface="Calibri" pitchFamily="34" charset="0"/>
                <a:ea typeface="Calibri" pitchFamily="34" charset="-122"/>
                <a:cs typeface="Calibri" pitchFamily="34" charset="-120"/>
              </a:rPr>
              <a:t>The core issue</a:t>
            </a:r>
            <a:endParaRPr lang="en-US" sz="1300" dirty="0"/>
          </a:p>
        </p:txBody>
      </p:sp>
      <p:sp>
        <p:nvSpPr>
          <p:cNvPr id="22" name="Text 20"/>
          <p:cNvSpPr txBox="1"/>
          <p:nvPr/>
        </p:nvSpPr>
        <p:spPr>
          <a:xfrm>
            <a:off x="6766560" y="2286000"/>
            <a:ext cx="4572000" cy="12801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 single party</a:t>
            </a:r>
            <a:endParaRPr lang="en-US" sz="3000" dirty="0"/>
          </a:p>
          <a:p>
            <a:pPr indent="0" marL="0">
              <a:buNone/>
            </a:pPr>
            <a:r>
              <a:rPr lang="en-US" sz="3000" b="1" dirty="0">
                <a:solidFill>
                  <a:srgbClr val="FFFFFF"/>
                </a:solidFill>
                <a:latin typeface="Cambria" pitchFamily="34" charset="0"/>
                <a:ea typeface="Cambria" pitchFamily="34" charset="-122"/>
                <a:cs typeface="Cambria" pitchFamily="34" charset="-120"/>
              </a:rPr>
              <a:t>controls the truth.</a:t>
            </a:r>
            <a:endParaRPr lang="en-US" sz="3000" dirty="0"/>
          </a:p>
        </p:txBody>
      </p:sp>
      <p:sp>
        <p:nvSpPr>
          <p:cNvPr id="23" name="Text 21"/>
          <p:cNvSpPr txBox="1"/>
          <p:nvPr/>
        </p:nvSpPr>
        <p:spPr>
          <a:xfrm>
            <a:off x="6766560" y="3657600"/>
            <a:ext cx="4572000" cy="914400"/>
          </a:xfrm>
          <a:prstGeom prst="rect">
            <a:avLst/>
          </a:prstGeom>
          <a:noFill/>
          <a:ln/>
        </p:spPr>
        <p:txBody>
          <a:bodyPr wrap="square" lIns="0" tIns="0" rIns="0" bIns="0" rtlCol="0" anchor="ctr"/>
          <a:lstStyle/>
          <a:p>
            <a:pPr indent="0" marL="0">
              <a:buNone/>
            </a:pPr>
            <a:r>
              <a:rPr lang="en-US" sz="1500" dirty="0">
                <a:solidFill>
                  <a:srgbClr val="BFD6D6"/>
                </a:solidFill>
                <a:latin typeface="Calibri" pitchFamily="34" charset="0"/>
                <a:ea typeface="Calibri" pitchFamily="34" charset="-122"/>
                <a:cs typeface="Calibri" pitchFamily="34" charset="-120"/>
              </a:rPr>
              <a:t>So the record is only as trustworthy as the person holding it — and only as permanent as they allow.</a:t>
            </a:r>
            <a:endParaRPr lang="en-US" sz="1500" dirty="0"/>
          </a:p>
        </p:txBody>
      </p:sp>
      <p:sp>
        <p:nvSpPr>
          <p:cNvPr id="24" name="Text 22"/>
          <p:cNvSpPr txBox="1"/>
          <p:nvPr/>
        </p:nvSpPr>
        <p:spPr>
          <a:xfrm>
            <a:off x="6766560" y="4937760"/>
            <a:ext cx="4572000" cy="822960"/>
          </a:xfrm>
          <a:prstGeom prst="rect">
            <a:avLst/>
          </a:prstGeom>
          <a:noFill/>
          <a:ln/>
        </p:spPr>
        <p:txBody>
          <a:bodyPr wrap="square" lIns="0" tIns="0" rIns="0" bIns="0" rtlCol="0" anchor="ctr"/>
          <a:lstStyle/>
          <a:p>
            <a:pPr indent="0" marL="0">
              <a:buNone/>
            </a:pPr>
            <a:r>
              <a:rPr lang="en-US" sz="1800" b="1" i="1" dirty="0">
                <a:solidFill>
                  <a:srgbClr val="02C39A"/>
                </a:solidFill>
                <a:latin typeface="Cambria" pitchFamily="34" charset="0"/>
                <a:ea typeface="Cambria" pitchFamily="34" charset="-122"/>
                <a:cs typeface="Cambria" pitchFamily="34" charset="-120"/>
              </a:rPr>
              <a:t>Can we remove the need to trust anyone?</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6F7"/>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300" kern="0" dirty="0">
                <a:solidFill>
                  <a:srgbClr val="028090"/>
                </a:solidFill>
                <a:latin typeface="Calibri" pitchFamily="34" charset="0"/>
                <a:ea typeface="Calibri" pitchFamily="34" charset="-122"/>
                <a:cs typeface="Calibri" pitchFamily="34" charset="-120"/>
              </a:rPr>
              <a:t>WHY BLOCKCHAIN</a:t>
            </a:r>
            <a:endParaRPr lang="en-US" sz="1200" dirty="0"/>
          </a:p>
        </p:txBody>
      </p:sp>
      <p:sp>
        <p:nvSpPr>
          <p:cNvPr id="3" name="Text 1"/>
          <p:cNvSpPr txBox="1"/>
          <p:nvPr/>
        </p:nvSpPr>
        <p:spPr>
          <a:xfrm>
            <a:off x="548640" y="713232"/>
            <a:ext cx="11094415" cy="731520"/>
          </a:xfrm>
          <a:prstGeom prst="rect">
            <a:avLst/>
          </a:prstGeom>
          <a:noFill/>
          <a:ln/>
        </p:spPr>
        <p:txBody>
          <a:bodyPr wrap="square" lIns="0" tIns="0" rIns="0" bIns="0" rtlCol="0" anchor="ctr"/>
          <a:lstStyle/>
          <a:p>
            <a:pPr indent="0" marL="0">
              <a:buNone/>
            </a:pPr>
            <a:r>
              <a:rPr lang="en-US" sz="3400" b="1" dirty="0">
                <a:solidFill>
                  <a:srgbClr val="17323B"/>
                </a:solidFill>
                <a:latin typeface="Cambria" pitchFamily="34" charset="0"/>
                <a:ea typeface="Cambria" pitchFamily="34" charset="-122"/>
                <a:cs typeface="Cambria" pitchFamily="34" charset="-120"/>
              </a:rPr>
              <a:t>Trust the math, not the middleman</a:t>
            </a:r>
            <a:endParaRPr lang="en-US" sz="3400" dirty="0"/>
          </a:p>
        </p:txBody>
      </p:sp>
      <p:sp>
        <p:nvSpPr>
          <p:cNvPr id="4" name="Shape 2"/>
          <p:cNvSpPr/>
          <p:nvPr/>
        </p:nvSpPr>
        <p:spPr>
          <a:xfrm>
            <a:off x="548640" y="1920240"/>
            <a:ext cx="2499284" cy="3566160"/>
          </a:xfrm>
          <a:prstGeom prst="roundRect">
            <a:avLst>
              <a:gd name="adj" fmla="val 4390"/>
            </a:avLst>
          </a:prstGeom>
          <a:solidFill>
            <a:srgbClr val="FFFFFF"/>
          </a:solidFill>
          <a:ln w="12700">
            <a:solidFill>
              <a:srgbClr val="DCE6E8"/>
            </a:solidFill>
            <a:prstDash val="solid"/>
          </a:ln>
          <a:effectLst>
            <a:outerShdw sx="100000" sy="100000" kx="0" ky="0" algn="bl" rotWithShape="0" blurRad="114300" dist="38100" dir="5400000">
              <a:srgbClr val="0C2A33">
                <a:alpha val="16000"/>
              </a:srgbClr>
            </a:outerShdw>
          </a:effectLst>
        </p:spPr>
      </p:sp>
      <p:sp>
        <p:nvSpPr>
          <p:cNvPr id="5" name="Shape 3"/>
          <p:cNvSpPr/>
          <p:nvPr/>
        </p:nvSpPr>
        <p:spPr>
          <a:xfrm>
            <a:off x="1386802" y="2240280"/>
            <a:ext cx="822960" cy="822960"/>
          </a:xfrm>
          <a:prstGeom prst="ellipse">
            <a:avLst/>
          </a:prstGeom>
          <a:solidFill>
            <a:srgbClr val="028090"/>
          </a:solidFill>
          <a:ln/>
        </p:spPr>
      </p:sp>
      <p:sp>
        <p:nvSpPr>
          <p:cNvPr id="6" name="Text 4"/>
          <p:cNvSpPr txBox="1"/>
          <p:nvPr/>
        </p:nvSpPr>
        <p:spPr>
          <a:xfrm>
            <a:off x="1386802" y="2240280"/>
            <a:ext cx="822960" cy="82296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a:t>
            </a:r>
            <a:endParaRPr lang="en-US" sz="2600" dirty="0"/>
          </a:p>
        </p:txBody>
      </p:sp>
      <p:sp>
        <p:nvSpPr>
          <p:cNvPr id="7" name="Text 5"/>
          <p:cNvSpPr txBox="1"/>
          <p:nvPr/>
        </p:nvSpPr>
        <p:spPr>
          <a:xfrm>
            <a:off x="685800" y="3246120"/>
            <a:ext cx="2224964" cy="457200"/>
          </a:xfrm>
          <a:prstGeom prst="rect">
            <a:avLst/>
          </a:prstGeom>
          <a:noFill/>
          <a:ln/>
        </p:spPr>
        <p:txBody>
          <a:bodyPr wrap="square" lIns="0" tIns="0" rIns="0" bIns="0" rtlCol="0" anchor="ctr"/>
          <a:lstStyle/>
          <a:p>
            <a:pPr algn="ctr" indent="0" marL="0">
              <a:buNone/>
            </a:pPr>
            <a:r>
              <a:rPr lang="en-US" sz="1800" b="1" dirty="0">
                <a:solidFill>
                  <a:srgbClr val="17323B"/>
                </a:solidFill>
                <a:latin typeface="Cambria" pitchFamily="34" charset="0"/>
                <a:ea typeface="Cambria" pitchFamily="34" charset="-122"/>
                <a:cs typeface="Cambria" pitchFamily="34" charset="-120"/>
              </a:rPr>
              <a:t>Immutable</a:t>
            </a:r>
            <a:endParaRPr lang="en-US" sz="1800" dirty="0"/>
          </a:p>
        </p:txBody>
      </p:sp>
      <p:sp>
        <p:nvSpPr>
          <p:cNvPr id="8" name="Text 6"/>
          <p:cNvSpPr txBox="1"/>
          <p:nvPr/>
        </p:nvSpPr>
        <p:spPr>
          <a:xfrm>
            <a:off x="731520" y="3749040"/>
            <a:ext cx="2133524" cy="1554480"/>
          </a:xfrm>
          <a:prstGeom prst="rect">
            <a:avLst/>
          </a:prstGeom>
          <a:noFill/>
          <a:ln/>
        </p:spPr>
        <p:txBody>
          <a:bodyPr wrap="square" lIns="0" tIns="0" rIns="0" bIns="0" rtlCol="0" anchor="ctr"/>
          <a:lstStyle/>
          <a:p>
            <a:pPr algn="ctr" indent="0" marL="0">
              <a:buNone/>
            </a:pPr>
            <a:r>
              <a:rPr lang="en-US" sz="1350" dirty="0">
                <a:solidFill>
                  <a:srgbClr val="5C7079"/>
                </a:solidFill>
                <a:latin typeface="Calibri" pitchFamily="34" charset="0"/>
                <a:ea typeface="Calibri" pitchFamily="34" charset="-122"/>
                <a:cs typeface="Calibri" pitchFamily="34" charset="-120"/>
              </a:rPr>
              <a:t>Once written, a record can never be edited or deleted — by anyone.</a:t>
            </a:r>
            <a:endParaRPr lang="en-US" sz="1350" dirty="0"/>
          </a:p>
        </p:txBody>
      </p:sp>
      <p:sp>
        <p:nvSpPr>
          <p:cNvPr id="9" name="Shape 7"/>
          <p:cNvSpPr/>
          <p:nvPr/>
        </p:nvSpPr>
        <p:spPr>
          <a:xfrm>
            <a:off x="3413684" y="1920240"/>
            <a:ext cx="2499284" cy="3566160"/>
          </a:xfrm>
          <a:prstGeom prst="roundRect">
            <a:avLst>
              <a:gd name="adj" fmla="val 4390"/>
            </a:avLst>
          </a:prstGeom>
          <a:solidFill>
            <a:srgbClr val="FFFFFF"/>
          </a:solidFill>
          <a:ln w="12700">
            <a:solidFill>
              <a:srgbClr val="DCE6E8"/>
            </a:solidFill>
            <a:prstDash val="solid"/>
          </a:ln>
          <a:effectLst>
            <a:outerShdw sx="100000" sy="100000" kx="0" ky="0" algn="bl" rotWithShape="0" blurRad="114300" dist="38100" dir="5400000">
              <a:srgbClr val="0C2A33">
                <a:alpha val="16000"/>
              </a:srgbClr>
            </a:outerShdw>
          </a:effectLst>
        </p:spPr>
      </p:sp>
      <p:sp>
        <p:nvSpPr>
          <p:cNvPr id="10" name="Shape 8"/>
          <p:cNvSpPr/>
          <p:nvPr/>
        </p:nvSpPr>
        <p:spPr>
          <a:xfrm>
            <a:off x="4251846" y="2240280"/>
            <a:ext cx="822960" cy="822960"/>
          </a:xfrm>
          <a:prstGeom prst="ellipse">
            <a:avLst/>
          </a:prstGeom>
          <a:solidFill>
            <a:srgbClr val="028090"/>
          </a:solidFill>
          <a:ln/>
        </p:spPr>
      </p:sp>
      <p:sp>
        <p:nvSpPr>
          <p:cNvPr id="11" name="Text 9"/>
          <p:cNvSpPr txBox="1"/>
          <p:nvPr/>
        </p:nvSpPr>
        <p:spPr>
          <a:xfrm>
            <a:off x="4251846" y="2240280"/>
            <a:ext cx="822960" cy="82296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a:t>
            </a:r>
            <a:endParaRPr lang="en-US" sz="2600" dirty="0"/>
          </a:p>
        </p:txBody>
      </p:sp>
      <p:sp>
        <p:nvSpPr>
          <p:cNvPr id="12" name="Text 10"/>
          <p:cNvSpPr txBox="1"/>
          <p:nvPr/>
        </p:nvSpPr>
        <p:spPr>
          <a:xfrm>
            <a:off x="3550844" y="3246120"/>
            <a:ext cx="2224964" cy="457200"/>
          </a:xfrm>
          <a:prstGeom prst="rect">
            <a:avLst/>
          </a:prstGeom>
          <a:noFill/>
          <a:ln/>
        </p:spPr>
        <p:txBody>
          <a:bodyPr wrap="square" lIns="0" tIns="0" rIns="0" bIns="0" rtlCol="0" anchor="ctr"/>
          <a:lstStyle/>
          <a:p>
            <a:pPr algn="ctr" indent="0" marL="0">
              <a:buNone/>
            </a:pPr>
            <a:r>
              <a:rPr lang="en-US" sz="1800" b="1" dirty="0">
                <a:solidFill>
                  <a:srgbClr val="17323B"/>
                </a:solidFill>
                <a:latin typeface="Cambria" pitchFamily="34" charset="0"/>
                <a:ea typeface="Cambria" pitchFamily="34" charset="-122"/>
                <a:cs typeface="Cambria" pitchFamily="34" charset="-120"/>
              </a:rPr>
              <a:t>Identity by key</a:t>
            </a:r>
            <a:endParaRPr lang="en-US" sz="1800" dirty="0"/>
          </a:p>
        </p:txBody>
      </p:sp>
      <p:sp>
        <p:nvSpPr>
          <p:cNvPr id="13" name="Text 11"/>
          <p:cNvSpPr txBox="1"/>
          <p:nvPr/>
        </p:nvSpPr>
        <p:spPr>
          <a:xfrm>
            <a:off x="3596564" y="3749040"/>
            <a:ext cx="2133524" cy="1554480"/>
          </a:xfrm>
          <a:prstGeom prst="rect">
            <a:avLst/>
          </a:prstGeom>
          <a:noFill/>
          <a:ln/>
        </p:spPr>
        <p:txBody>
          <a:bodyPr wrap="square" lIns="0" tIns="0" rIns="0" bIns="0" rtlCol="0" anchor="ctr"/>
          <a:lstStyle/>
          <a:p>
            <a:pPr algn="ctr" indent="0" marL="0">
              <a:buNone/>
            </a:pPr>
            <a:r>
              <a:rPr lang="en-US" sz="1350" dirty="0">
                <a:solidFill>
                  <a:srgbClr val="5C7079"/>
                </a:solidFill>
                <a:latin typeface="Calibri" pitchFamily="34" charset="0"/>
                <a:ea typeface="Calibri" pitchFamily="34" charset="-122"/>
                <a:cs typeface="Calibri" pitchFamily="34" charset="-120"/>
              </a:rPr>
              <a:t>Every action is signed by a private key, proving who did it.</a:t>
            </a:r>
            <a:endParaRPr lang="en-US" sz="1350" dirty="0"/>
          </a:p>
        </p:txBody>
      </p:sp>
      <p:sp>
        <p:nvSpPr>
          <p:cNvPr id="14" name="Shape 12"/>
          <p:cNvSpPr/>
          <p:nvPr/>
        </p:nvSpPr>
        <p:spPr>
          <a:xfrm>
            <a:off x="6278728" y="1920240"/>
            <a:ext cx="2499284" cy="3566160"/>
          </a:xfrm>
          <a:prstGeom prst="roundRect">
            <a:avLst>
              <a:gd name="adj" fmla="val 4390"/>
            </a:avLst>
          </a:prstGeom>
          <a:solidFill>
            <a:srgbClr val="FFFFFF"/>
          </a:solidFill>
          <a:ln w="12700">
            <a:solidFill>
              <a:srgbClr val="DCE6E8"/>
            </a:solidFill>
            <a:prstDash val="solid"/>
          </a:ln>
          <a:effectLst>
            <a:outerShdw sx="100000" sy="100000" kx="0" ky="0" algn="bl" rotWithShape="0" blurRad="114300" dist="38100" dir="5400000">
              <a:srgbClr val="0C2A33">
                <a:alpha val="16000"/>
              </a:srgbClr>
            </a:outerShdw>
          </a:effectLst>
        </p:spPr>
      </p:sp>
      <p:sp>
        <p:nvSpPr>
          <p:cNvPr id="15" name="Shape 13"/>
          <p:cNvSpPr/>
          <p:nvPr/>
        </p:nvSpPr>
        <p:spPr>
          <a:xfrm>
            <a:off x="7116889" y="2240280"/>
            <a:ext cx="822960" cy="822960"/>
          </a:xfrm>
          <a:prstGeom prst="ellipse">
            <a:avLst/>
          </a:prstGeom>
          <a:solidFill>
            <a:srgbClr val="028090"/>
          </a:solidFill>
          <a:ln/>
        </p:spPr>
      </p:sp>
      <p:sp>
        <p:nvSpPr>
          <p:cNvPr id="16" name="Text 14"/>
          <p:cNvSpPr txBox="1"/>
          <p:nvPr/>
        </p:nvSpPr>
        <p:spPr>
          <a:xfrm>
            <a:off x="7116889" y="2240280"/>
            <a:ext cx="822960" cy="82296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3</a:t>
            </a:r>
            <a:endParaRPr lang="en-US" sz="2600" dirty="0"/>
          </a:p>
        </p:txBody>
      </p:sp>
      <p:sp>
        <p:nvSpPr>
          <p:cNvPr id="17" name="Text 15"/>
          <p:cNvSpPr txBox="1"/>
          <p:nvPr/>
        </p:nvSpPr>
        <p:spPr>
          <a:xfrm>
            <a:off x="6415888" y="3246120"/>
            <a:ext cx="2224964" cy="457200"/>
          </a:xfrm>
          <a:prstGeom prst="rect">
            <a:avLst/>
          </a:prstGeom>
          <a:noFill/>
          <a:ln/>
        </p:spPr>
        <p:txBody>
          <a:bodyPr wrap="square" lIns="0" tIns="0" rIns="0" bIns="0" rtlCol="0" anchor="ctr"/>
          <a:lstStyle/>
          <a:p>
            <a:pPr algn="ctr" indent="0" marL="0">
              <a:buNone/>
            </a:pPr>
            <a:r>
              <a:rPr lang="en-US" sz="1800" b="1" dirty="0">
                <a:solidFill>
                  <a:srgbClr val="17323B"/>
                </a:solidFill>
                <a:latin typeface="Cambria" pitchFamily="34" charset="0"/>
                <a:ea typeface="Cambria" pitchFamily="34" charset="-122"/>
                <a:cs typeface="Cambria" pitchFamily="34" charset="-120"/>
              </a:rPr>
              <a:t>Transparent</a:t>
            </a:r>
            <a:endParaRPr lang="en-US" sz="1800" dirty="0"/>
          </a:p>
        </p:txBody>
      </p:sp>
      <p:sp>
        <p:nvSpPr>
          <p:cNvPr id="18" name="Text 16"/>
          <p:cNvSpPr txBox="1"/>
          <p:nvPr/>
        </p:nvSpPr>
        <p:spPr>
          <a:xfrm>
            <a:off x="6461608" y="3749040"/>
            <a:ext cx="2133524" cy="1554480"/>
          </a:xfrm>
          <a:prstGeom prst="rect">
            <a:avLst/>
          </a:prstGeom>
          <a:noFill/>
          <a:ln/>
        </p:spPr>
        <p:txBody>
          <a:bodyPr wrap="square" lIns="0" tIns="0" rIns="0" bIns="0" rtlCol="0" anchor="ctr"/>
          <a:lstStyle/>
          <a:p>
            <a:pPr algn="ctr" indent="0" marL="0">
              <a:buNone/>
            </a:pPr>
            <a:r>
              <a:rPr lang="en-US" sz="1350" dirty="0">
                <a:solidFill>
                  <a:srgbClr val="5C7079"/>
                </a:solidFill>
                <a:latin typeface="Calibri" pitchFamily="34" charset="0"/>
                <a:ea typeface="Calibri" pitchFamily="34" charset="-122"/>
                <a:cs typeface="Calibri" pitchFamily="34" charset="-120"/>
              </a:rPr>
              <a:t>Anyone can independently verify the records for themselves.</a:t>
            </a:r>
            <a:endParaRPr lang="en-US" sz="1350" dirty="0"/>
          </a:p>
        </p:txBody>
      </p:sp>
      <p:sp>
        <p:nvSpPr>
          <p:cNvPr id="19" name="Shape 17"/>
          <p:cNvSpPr/>
          <p:nvPr/>
        </p:nvSpPr>
        <p:spPr>
          <a:xfrm>
            <a:off x="9143771" y="1920240"/>
            <a:ext cx="2499284" cy="3566160"/>
          </a:xfrm>
          <a:prstGeom prst="roundRect">
            <a:avLst>
              <a:gd name="adj" fmla="val 4390"/>
            </a:avLst>
          </a:prstGeom>
          <a:solidFill>
            <a:srgbClr val="FFFFFF"/>
          </a:solidFill>
          <a:ln w="12700">
            <a:solidFill>
              <a:srgbClr val="DCE6E8"/>
            </a:solidFill>
            <a:prstDash val="solid"/>
          </a:ln>
          <a:effectLst>
            <a:outerShdw sx="100000" sy="100000" kx="0" ky="0" algn="bl" rotWithShape="0" blurRad="114300" dist="38100" dir="5400000">
              <a:srgbClr val="0C2A33">
                <a:alpha val="16000"/>
              </a:srgbClr>
            </a:outerShdw>
          </a:effectLst>
        </p:spPr>
      </p:sp>
      <p:sp>
        <p:nvSpPr>
          <p:cNvPr id="20" name="Shape 18"/>
          <p:cNvSpPr/>
          <p:nvPr/>
        </p:nvSpPr>
        <p:spPr>
          <a:xfrm>
            <a:off x="9981933" y="2240280"/>
            <a:ext cx="822960" cy="822960"/>
          </a:xfrm>
          <a:prstGeom prst="ellipse">
            <a:avLst/>
          </a:prstGeom>
          <a:solidFill>
            <a:srgbClr val="028090"/>
          </a:solidFill>
          <a:ln/>
        </p:spPr>
      </p:sp>
      <p:sp>
        <p:nvSpPr>
          <p:cNvPr id="21" name="Text 19"/>
          <p:cNvSpPr txBox="1"/>
          <p:nvPr/>
        </p:nvSpPr>
        <p:spPr>
          <a:xfrm>
            <a:off x="9981933" y="2240280"/>
            <a:ext cx="822960" cy="82296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4</a:t>
            </a:r>
            <a:endParaRPr lang="en-US" sz="2600" dirty="0"/>
          </a:p>
        </p:txBody>
      </p:sp>
      <p:sp>
        <p:nvSpPr>
          <p:cNvPr id="22" name="Text 20"/>
          <p:cNvSpPr txBox="1"/>
          <p:nvPr/>
        </p:nvSpPr>
        <p:spPr>
          <a:xfrm>
            <a:off x="9280931" y="3246120"/>
            <a:ext cx="2224964" cy="457200"/>
          </a:xfrm>
          <a:prstGeom prst="rect">
            <a:avLst/>
          </a:prstGeom>
          <a:noFill/>
          <a:ln/>
        </p:spPr>
        <p:txBody>
          <a:bodyPr wrap="square" lIns="0" tIns="0" rIns="0" bIns="0" rtlCol="0" anchor="ctr"/>
          <a:lstStyle/>
          <a:p>
            <a:pPr algn="ctr" indent="0" marL="0">
              <a:buNone/>
            </a:pPr>
            <a:r>
              <a:rPr lang="en-US" sz="1800" b="1" dirty="0">
                <a:solidFill>
                  <a:srgbClr val="17323B"/>
                </a:solidFill>
                <a:latin typeface="Cambria" pitchFamily="34" charset="0"/>
                <a:ea typeface="Cambria" pitchFamily="34" charset="-122"/>
                <a:cs typeface="Cambria" pitchFamily="34" charset="-120"/>
              </a:rPr>
              <a:t>No super-admin</a:t>
            </a:r>
            <a:endParaRPr lang="en-US" sz="1800" dirty="0"/>
          </a:p>
        </p:txBody>
      </p:sp>
      <p:sp>
        <p:nvSpPr>
          <p:cNvPr id="23" name="Text 21"/>
          <p:cNvSpPr txBox="1"/>
          <p:nvPr/>
        </p:nvSpPr>
        <p:spPr>
          <a:xfrm>
            <a:off x="9326651" y="3749040"/>
            <a:ext cx="2133524" cy="1554480"/>
          </a:xfrm>
          <a:prstGeom prst="rect">
            <a:avLst/>
          </a:prstGeom>
          <a:noFill/>
          <a:ln/>
        </p:spPr>
        <p:txBody>
          <a:bodyPr wrap="square" lIns="0" tIns="0" rIns="0" bIns="0" rtlCol="0" anchor="ctr"/>
          <a:lstStyle/>
          <a:p>
            <a:pPr algn="ctr" indent="0" marL="0">
              <a:buNone/>
            </a:pPr>
            <a:r>
              <a:rPr lang="en-US" sz="1350" dirty="0">
                <a:solidFill>
                  <a:srgbClr val="5C7079"/>
                </a:solidFill>
                <a:latin typeface="Calibri" pitchFamily="34" charset="0"/>
                <a:ea typeface="Calibri" pitchFamily="34" charset="-122"/>
                <a:cs typeface="Calibri" pitchFamily="34" charset="-120"/>
              </a:rPr>
              <a:t>Not even the deployer can rewrite history to cheat.</a:t>
            </a:r>
            <a:endParaRPr lang="en-US" sz="1350" dirty="0"/>
          </a:p>
        </p:txBody>
      </p:sp>
      <p:sp>
        <p:nvSpPr>
          <p:cNvPr id="24" name="Text 22"/>
          <p:cNvSpPr txBox="1"/>
          <p:nvPr/>
        </p:nvSpPr>
        <p:spPr>
          <a:xfrm>
            <a:off x="548640" y="5760720"/>
            <a:ext cx="11094415" cy="457200"/>
          </a:xfrm>
          <a:prstGeom prst="rect">
            <a:avLst/>
          </a:prstGeom>
          <a:noFill/>
          <a:ln/>
        </p:spPr>
        <p:txBody>
          <a:bodyPr wrap="square" lIns="0" tIns="0" rIns="0" bIns="0" rtlCol="0" anchor="ctr"/>
          <a:lstStyle/>
          <a:p>
            <a:pPr algn="ctr" indent="0" marL="0">
              <a:buNone/>
            </a:pPr>
            <a:r>
              <a:rPr lang="en-US" sz="1500" i="1" dirty="0">
                <a:solidFill>
                  <a:srgbClr val="17323B"/>
                </a:solidFill>
                <a:latin typeface="Calibri" pitchFamily="34" charset="0"/>
                <a:ea typeface="Calibri" pitchFamily="34" charset="-122"/>
                <a:cs typeface="Calibri" pitchFamily="34" charset="-120"/>
              </a:rPr>
              <a:t>These four properties are exactly what a trustworthy attendance record needs.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6F7"/>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300" kern="0" dirty="0">
                <a:solidFill>
                  <a:srgbClr val="028090"/>
                </a:solidFill>
                <a:latin typeface="Calibri" pitchFamily="34" charset="0"/>
                <a:ea typeface="Calibri" pitchFamily="34" charset="-122"/>
                <a:cs typeface="Calibri" pitchFamily="34" charset="-120"/>
              </a:rPr>
              <a:t>HOW ATTENDCHAIN WORKS</a:t>
            </a:r>
            <a:endParaRPr lang="en-US" sz="1200" dirty="0"/>
          </a:p>
        </p:txBody>
      </p:sp>
      <p:sp>
        <p:nvSpPr>
          <p:cNvPr id="3" name="Text 1"/>
          <p:cNvSpPr txBox="1"/>
          <p:nvPr/>
        </p:nvSpPr>
        <p:spPr>
          <a:xfrm>
            <a:off x="548640" y="713232"/>
            <a:ext cx="11094415" cy="731520"/>
          </a:xfrm>
          <a:prstGeom prst="rect">
            <a:avLst/>
          </a:prstGeom>
          <a:noFill/>
          <a:ln/>
        </p:spPr>
        <p:txBody>
          <a:bodyPr wrap="square" lIns="0" tIns="0" rIns="0" bIns="0" rtlCol="0" anchor="ctr"/>
          <a:lstStyle/>
          <a:p>
            <a:pPr indent="0" marL="0">
              <a:buNone/>
            </a:pPr>
            <a:r>
              <a:rPr lang="en-US" sz="3400" b="1" dirty="0">
                <a:solidFill>
                  <a:srgbClr val="17323B"/>
                </a:solidFill>
                <a:latin typeface="Cambria" pitchFamily="34" charset="0"/>
                <a:ea typeface="Cambria" pitchFamily="34" charset="-122"/>
                <a:cs typeface="Cambria" pitchFamily="34" charset="-120"/>
              </a:rPr>
              <a:t>Four roles, one simple flow</a:t>
            </a:r>
            <a:endParaRPr lang="en-US" sz="3400" dirty="0"/>
          </a:p>
        </p:txBody>
      </p:sp>
      <p:sp>
        <p:nvSpPr>
          <p:cNvPr id="4" name="Shape 2"/>
          <p:cNvSpPr/>
          <p:nvPr/>
        </p:nvSpPr>
        <p:spPr>
          <a:xfrm>
            <a:off x="640080" y="2011680"/>
            <a:ext cx="2514600" cy="3383280"/>
          </a:xfrm>
          <a:prstGeom prst="roundRect">
            <a:avLst>
              <a:gd name="adj" fmla="val 4364"/>
            </a:avLst>
          </a:prstGeom>
          <a:solidFill>
            <a:srgbClr val="FFFFFF"/>
          </a:solidFill>
          <a:ln w="12700">
            <a:solidFill>
              <a:srgbClr val="DCE6E8"/>
            </a:solidFill>
            <a:prstDash val="solid"/>
          </a:ln>
          <a:effectLst>
            <a:outerShdw sx="100000" sy="100000" kx="0" ky="0" algn="bl" rotWithShape="0" blurRad="114300" dist="38100" dir="5400000">
              <a:srgbClr val="0C2A33">
                <a:alpha val="16000"/>
              </a:srgbClr>
            </a:outerShdw>
          </a:effectLst>
        </p:spPr>
      </p:sp>
      <p:sp>
        <p:nvSpPr>
          <p:cNvPr id="5" name="Shape 3"/>
          <p:cNvSpPr/>
          <p:nvPr/>
        </p:nvSpPr>
        <p:spPr>
          <a:xfrm>
            <a:off x="1440180" y="2331720"/>
            <a:ext cx="914400" cy="914400"/>
          </a:xfrm>
          <a:prstGeom prst="ellipse">
            <a:avLst/>
          </a:prstGeom>
          <a:solidFill>
            <a:srgbClr val="028090"/>
          </a:solidFill>
          <a:ln/>
        </p:spPr>
      </p:sp>
      <p:sp>
        <p:nvSpPr>
          <p:cNvPr id="6" name="Text 4"/>
          <p:cNvSpPr txBox="1"/>
          <p:nvPr/>
        </p:nvSpPr>
        <p:spPr>
          <a:xfrm>
            <a:off x="1440180" y="233172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1</a:t>
            </a:r>
            <a:endParaRPr lang="en-US" sz="3000" dirty="0"/>
          </a:p>
        </p:txBody>
      </p:sp>
      <p:sp>
        <p:nvSpPr>
          <p:cNvPr id="7" name="Text 5"/>
          <p:cNvSpPr txBox="1"/>
          <p:nvPr/>
        </p:nvSpPr>
        <p:spPr>
          <a:xfrm>
            <a:off x="731520" y="3429000"/>
            <a:ext cx="2331720" cy="411480"/>
          </a:xfrm>
          <a:prstGeom prst="rect">
            <a:avLst/>
          </a:prstGeom>
          <a:noFill/>
          <a:ln/>
        </p:spPr>
        <p:txBody>
          <a:bodyPr wrap="square" lIns="0" tIns="0" rIns="0" bIns="0" rtlCol="0" anchor="ctr"/>
          <a:lstStyle/>
          <a:p>
            <a:pPr algn="ctr" indent="0" marL="0">
              <a:buNone/>
            </a:pPr>
            <a:r>
              <a:rPr lang="en-US" sz="1900" b="1" dirty="0">
                <a:solidFill>
                  <a:srgbClr val="17323B"/>
                </a:solidFill>
                <a:latin typeface="Cambria" pitchFamily="34" charset="0"/>
                <a:ea typeface="Cambria" pitchFamily="34" charset="-122"/>
                <a:cs typeface="Cambria" pitchFamily="34" charset="-120"/>
              </a:rPr>
              <a:t>Admin</a:t>
            </a:r>
            <a:endParaRPr lang="en-US" sz="1900" dirty="0"/>
          </a:p>
        </p:txBody>
      </p:sp>
      <p:sp>
        <p:nvSpPr>
          <p:cNvPr id="8" name="Text 6"/>
          <p:cNvSpPr txBox="1"/>
          <p:nvPr/>
        </p:nvSpPr>
        <p:spPr>
          <a:xfrm>
            <a:off x="822960" y="3886200"/>
            <a:ext cx="2148840" cy="1371600"/>
          </a:xfrm>
          <a:prstGeom prst="rect">
            <a:avLst/>
          </a:prstGeom>
          <a:noFill/>
          <a:ln/>
        </p:spPr>
        <p:txBody>
          <a:bodyPr wrap="square" lIns="0" tIns="0" rIns="0" bIns="0" rtlCol="0" anchor="ctr"/>
          <a:lstStyle/>
          <a:p>
            <a:pPr algn="ctr" indent="0" marL="0">
              <a:buNone/>
            </a:pPr>
            <a:r>
              <a:rPr lang="en-US" sz="1350" dirty="0">
                <a:solidFill>
                  <a:srgbClr val="5C7079"/>
                </a:solidFill>
                <a:latin typeface="Calibri" pitchFamily="34" charset="0"/>
                <a:ea typeface="Calibri" pitchFamily="34" charset="-122"/>
                <a:cs typeface="Calibri" pitchFamily="34" charset="-120"/>
              </a:rPr>
              <a:t>registers students and teachers to their wallet addresses</a:t>
            </a:r>
            <a:endParaRPr lang="en-US" sz="1350" dirty="0"/>
          </a:p>
        </p:txBody>
      </p:sp>
      <p:sp>
        <p:nvSpPr>
          <p:cNvPr id="9" name="Text 7"/>
          <p:cNvSpPr txBox="1"/>
          <p:nvPr/>
        </p:nvSpPr>
        <p:spPr>
          <a:xfrm>
            <a:off x="3136392" y="3108960"/>
            <a:ext cx="420624" cy="548640"/>
          </a:xfrm>
          <a:prstGeom prst="rect">
            <a:avLst/>
          </a:prstGeom>
          <a:noFill/>
          <a:ln/>
        </p:spPr>
        <p:txBody>
          <a:bodyPr wrap="square" lIns="0" tIns="0" rIns="0" bIns="0" rtlCol="0" anchor="ctr"/>
          <a:lstStyle/>
          <a:p>
            <a:pPr algn="ctr" indent="0" marL="0">
              <a:buNone/>
            </a:pPr>
            <a:r>
              <a:rPr lang="en-US" sz="2600" b="1" dirty="0">
                <a:solidFill>
                  <a:srgbClr val="00A896"/>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3538728" y="2011680"/>
            <a:ext cx="2514600" cy="3383280"/>
          </a:xfrm>
          <a:prstGeom prst="roundRect">
            <a:avLst>
              <a:gd name="adj" fmla="val 4364"/>
            </a:avLst>
          </a:prstGeom>
          <a:solidFill>
            <a:srgbClr val="FFFFFF"/>
          </a:solidFill>
          <a:ln w="12700">
            <a:solidFill>
              <a:srgbClr val="DCE6E8"/>
            </a:solidFill>
            <a:prstDash val="solid"/>
          </a:ln>
          <a:effectLst>
            <a:outerShdw sx="100000" sy="100000" kx="0" ky="0" algn="bl" rotWithShape="0" blurRad="114300" dist="38100" dir="5400000">
              <a:srgbClr val="0C2A33">
                <a:alpha val="16000"/>
              </a:srgbClr>
            </a:outerShdw>
          </a:effectLst>
        </p:spPr>
      </p:sp>
      <p:sp>
        <p:nvSpPr>
          <p:cNvPr id="11" name="Shape 9"/>
          <p:cNvSpPr/>
          <p:nvPr/>
        </p:nvSpPr>
        <p:spPr>
          <a:xfrm>
            <a:off x="4338828" y="2331720"/>
            <a:ext cx="914400" cy="914400"/>
          </a:xfrm>
          <a:prstGeom prst="ellipse">
            <a:avLst/>
          </a:prstGeom>
          <a:solidFill>
            <a:srgbClr val="028090"/>
          </a:solidFill>
          <a:ln/>
        </p:spPr>
      </p:sp>
      <p:sp>
        <p:nvSpPr>
          <p:cNvPr id="12" name="Text 10"/>
          <p:cNvSpPr txBox="1"/>
          <p:nvPr/>
        </p:nvSpPr>
        <p:spPr>
          <a:xfrm>
            <a:off x="4338828" y="233172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13" name="Text 11"/>
          <p:cNvSpPr txBox="1"/>
          <p:nvPr/>
        </p:nvSpPr>
        <p:spPr>
          <a:xfrm>
            <a:off x="3630168" y="3429000"/>
            <a:ext cx="2331720" cy="411480"/>
          </a:xfrm>
          <a:prstGeom prst="rect">
            <a:avLst/>
          </a:prstGeom>
          <a:noFill/>
          <a:ln/>
        </p:spPr>
        <p:txBody>
          <a:bodyPr wrap="square" lIns="0" tIns="0" rIns="0" bIns="0" rtlCol="0" anchor="ctr"/>
          <a:lstStyle/>
          <a:p>
            <a:pPr algn="ctr" indent="0" marL="0">
              <a:buNone/>
            </a:pPr>
            <a:r>
              <a:rPr lang="en-US" sz="1900" b="1" dirty="0">
                <a:solidFill>
                  <a:srgbClr val="17323B"/>
                </a:solidFill>
                <a:latin typeface="Cambria" pitchFamily="34" charset="0"/>
                <a:ea typeface="Cambria" pitchFamily="34" charset="-122"/>
                <a:cs typeface="Cambria" pitchFamily="34" charset="-120"/>
              </a:rPr>
              <a:t>Teacher</a:t>
            </a:r>
            <a:endParaRPr lang="en-US" sz="1900" dirty="0"/>
          </a:p>
        </p:txBody>
      </p:sp>
      <p:sp>
        <p:nvSpPr>
          <p:cNvPr id="14" name="Text 12"/>
          <p:cNvSpPr txBox="1"/>
          <p:nvPr/>
        </p:nvSpPr>
        <p:spPr>
          <a:xfrm>
            <a:off x="3721608" y="3886200"/>
            <a:ext cx="2148840" cy="1371600"/>
          </a:xfrm>
          <a:prstGeom prst="rect">
            <a:avLst/>
          </a:prstGeom>
          <a:noFill/>
          <a:ln/>
        </p:spPr>
        <p:txBody>
          <a:bodyPr wrap="square" lIns="0" tIns="0" rIns="0" bIns="0" rtlCol="0" anchor="ctr"/>
          <a:lstStyle/>
          <a:p>
            <a:pPr algn="ctr" indent="0" marL="0">
              <a:buNone/>
            </a:pPr>
            <a:r>
              <a:rPr lang="en-US" sz="1350" dirty="0">
                <a:solidFill>
                  <a:srgbClr val="5C7079"/>
                </a:solidFill>
                <a:latin typeface="Calibri" pitchFamily="34" charset="0"/>
                <a:ea typeface="Calibri" pitchFamily="34" charset="-122"/>
                <a:cs typeface="Calibri" pitchFamily="34" charset="-120"/>
              </a:rPr>
              <a:t>opens a session for the class (and closes it when time is up)</a:t>
            </a:r>
            <a:endParaRPr lang="en-US" sz="1350" dirty="0"/>
          </a:p>
        </p:txBody>
      </p:sp>
      <p:sp>
        <p:nvSpPr>
          <p:cNvPr id="15" name="Text 13"/>
          <p:cNvSpPr txBox="1"/>
          <p:nvPr/>
        </p:nvSpPr>
        <p:spPr>
          <a:xfrm>
            <a:off x="6035040" y="3108960"/>
            <a:ext cx="420624" cy="548640"/>
          </a:xfrm>
          <a:prstGeom prst="rect">
            <a:avLst/>
          </a:prstGeom>
          <a:noFill/>
          <a:ln/>
        </p:spPr>
        <p:txBody>
          <a:bodyPr wrap="square" lIns="0" tIns="0" rIns="0" bIns="0" rtlCol="0" anchor="ctr"/>
          <a:lstStyle/>
          <a:p>
            <a:pPr algn="ctr" indent="0" marL="0">
              <a:buNone/>
            </a:pPr>
            <a:r>
              <a:rPr lang="en-US" sz="2600" b="1" dirty="0">
                <a:solidFill>
                  <a:srgbClr val="00A896"/>
                </a:solidFill>
                <a:latin typeface="Calibri" pitchFamily="34" charset="0"/>
                <a:ea typeface="Calibri" pitchFamily="34" charset="-122"/>
                <a:cs typeface="Calibri" pitchFamily="34" charset="-120"/>
              </a:rPr>
              <a:t>→</a:t>
            </a:r>
            <a:endParaRPr lang="en-US" sz="2600" dirty="0"/>
          </a:p>
        </p:txBody>
      </p:sp>
      <p:sp>
        <p:nvSpPr>
          <p:cNvPr id="16" name="Shape 14"/>
          <p:cNvSpPr/>
          <p:nvPr/>
        </p:nvSpPr>
        <p:spPr>
          <a:xfrm>
            <a:off x="6437376" y="2011680"/>
            <a:ext cx="2514600" cy="3383280"/>
          </a:xfrm>
          <a:prstGeom prst="roundRect">
            <a:avLst>
              <a:gd name="adj" fmla="val 4364"/>
            </a:avLst>
          </a:prstGeom>
          <a:solidFill>
            <a:srgbClr val="FFFFFF"/>
          </a:solidFill>
          <a:ln w="12700">
            <a:solidFill>
              <a:srgbClr val="DCE6E8"/>
            </a:solidFill>
            <a:prstDash val="solid"/>
          </a:ln>
          <a:effectLst>
            <a:outerShdw sx="100000" sy="100000" kx="0" ky="0" algn="bl" rotWithShape="0" blurRad="114300" dist="38100" dir="5400000">
              <a:srgbClr val="0C2A33">
                <a:alpha val="16000"/>
              </a:srgbClr>
            </a:outerShdw>
          </a:effectLst>
        </p:spPr>
      </p:sp>
      <p:sp>
        <p:nvSpPr>
          <p:cNvPr id="17" name="Shape 15"/>
          <p:cNvSpPr/>
          <p:nvPr/>
        </p:nvSpPr>
        <p:spPr>
          <a:xfrm>
            <a:off x="7237476" y="2331720"/>
            <a:ext cx="914400" cy="914400"/>
          </a:xfrm>
          <a:prstGeom prst="ellipse">
            <a:avLst/>
          </a:prstGeom>
          <a:solidFill>
            <a:srgbClr val="02C39A"/>
          </a:solidFill>
          <a:ln/>
        </p:spPr>
      </p:sp>
      <p:sp>
        <p:nvSpPr>
          <p:cNvPr id="18" name="Text 16"/>
          <p:cNvSpPr txBox="1"/>
          <p:nvPr/>
        </p:nvSpPr>
        <p:spPr>
          <a:xfrm>
            <a:off x="7237476" y="233172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3</a:t>
            </a:r>
            <a:endParaRPr lang="en-US" sz="3000" dirty="0"/>
          </a:p>
        </p:txBody>
      </p:sp>
      <p:sp>
        <p:nvSpPr>
          <p:cNvPr id="19" name="Text 17"/>
          <p:cNvSpPr txBox="1"/>
          <p:nvPr/>
        </p:nvSpPr>
        <p:spPr>
          <a:xfrm>
            <a:off x="6528816" y="3429000"/>
            <a:ext cx="2331720" cy="411480"/>
          </a:xfrm>
          <a:prstGeom prst="rect">
            <a:avLst/>
          </a:prstGeom>
          <a:noFill/>
          <a:ln/>
        </p:spPr>
        <p:txBody>
          <a:bodyPr wrap="square" lIns="0" tIns="0" rIns="0" bIns="0" rtlCol="0" anchor="ctr"/>
          <a:lstStyle/>
          <a:p>
            <a:pPr algn="ctr" indent="0" marL="0">
              <a:buNone/>
            </a:pPr>
            <a:r>
              <a:rPr lang="en-US" sz="1900" b="1" dirty="0">
                <a:solidFill>
                  <a:srgbClr val="028090"/>
                </a:solidFill>
                <a:latin typeface="Cambria" pitchFamily="34" charset="0"/>
                <a:ea typeface="Cambria" pitchFamily="34" charset="-122"/>
                <a:cs typeface="Cambria" pitchFamily="34" charset="-120"/>
              </a:rPr>
              <a:t>Student</a:t>
            </a:r>
            <a:endParaRPr lang="en-US" sz="1900" dirty="0"/>
          </a:p>
        </p:txBody>
      </p:sp>
      <p:sp>
        <p:nvSpPr>
          <p:cNvPr id="20" name="Text 18"/>
          <p:cNvSpPr txBox="1"/>
          <p:nvPr/>
        </p:nvSpPr>
        <p:spPr>
          <a:xfrm>
            <a:off x="6620256" y="3886200"/>
            <a:ext cx="2148840" cy="1371600"/>
          </a:xfrm>
          <a:prstGeom prst="rect">
            <a:avLst/>
          </a:prstGeom>
          <a:noFill/>
          <a:ln/>
        </p:spPr>
        <p:txBody>
          <a:bodyPr wrap="square" lIns="0" tIns="0" rIns="0" bIns="0" rtlCol="0" anchor="ctr"/>
          <a:lstStyle/>
          <a:p>
            <a:pPr algn="ctr" indent="0" marL="0">
              <a:buNone/>
            </a:pPr>
            <a:r>
              <a:rPr lang="en-US" sz="1350" dirty="0">
                <a:solidFill>
                  <a:srgbClr val="5C7079"/>
                </a:solidFill>
                <a:latin typeface="Calibri" pitchFamily="34" charset="0"/>
                <a:ea typeface="Calibri" pitchFamily="34" charset="-122"/>
                <a:cs typeface="Calibri" pitchFamily="34" charset="-120"/>
              </a:rPr>
              <a:t>marks their OWN attendance from their own wallet</a:t>
            </a:r>
            <a:endParaRPr lang="en-US" sz="1350" dirty="0"/>
          </a:p>
        </p:txBody>
      </p:sp>
      <p:sp>
        <p:nvSpPr>
          <p:cNvPr id="21" name="Text 19"/>
          <p:cNvSpPr txBox="1"/>
          <p:nvPr/>
        </p:nvSpPr>
        <p:spPr>
          <a:xfrm>
            <a:off x="8933688" y="3108960"/>
            <a:ext cx="420624" cy="548640"/>
          </a:xfrm>
          <a:prstGeom prst="rect">
            <a:avLst/>
          </a:prstGeom>
          <a:noFill/>
          <a:ln/>
        </p:spPr>
        <p:txBody>
          <a:bodyPr wrap="square" lIns="0" tIns="0" rIns="0" bIns="0" rtlCol="0" anchor="ctr"/>
          <a:lstStyle/>
          <a:p>
            <a:pPr algn="ctr" indent="0" marL="0">
              <a:buNone/>
            </a:pPr>
            <a:r>
              <a:rPr lang="en-US" sz="2600" b="1" dirty="0">
                <a:solidFill>
                  <a:srgbClr val="00A896"/>
                </a:solidFill>
                <a:latin typeface="Calibri" pitchFamily="34" charset="0"/>
                <a:ea typeface="Calibri" pitchFamily="34" charset="-122"/>
                <a:cs typeface="Calibri" pitchFamily="34" charset="-120"/>
              </a:rPr>
              <a:t>→</a:t>
            </a:r>
            <a:endParaRPr lang="en-US" sz="2600" dirty="0"/>
          </a:p>
        </p:txBody>
      </p:sp>
      <p:sp>
        <p:nvSpPr>
          <p:cNvPr id="22" name="Shape 20"/>
          <p:cNvSpPr/>
          <p:nvPr/>
        </p:nvSpPr>
        <p:spPr>
          <a:xfrm>
            <a:off x="9336024" y="2011680"/>
            <a:ext cx="2514600" cy="3383280"/>
          </a:xfrm>
          <a:prstGeom prst="roundRect">
            <a:avLst>
              <a:gd name="adj" fmla="val 4364"/>
            </a:avLst>
          </a:prstGeom>
          <a:solidFill>
            <a:srgbClr val="FFFFFF"/>
          </a:solidFill>
          <a:ln w="12700">
            <a:solidFill>
              <a:srgbClr val="DCE6E8"/>
            </a:solidFill>
            <a:prstDash val="solid"/>
          </a:ln>
          <a:effectLst>
            <a:outerShdw sx="100000" sy="100000" kx="0" ky="0" algn="bl" rotWithShape="0" blurRad="114300" dist="38100" dir="5400000">
              <a:srgbClr val="0C2A33">
                <a:alpha val="16000"/>
              </a:srgbClr>
            </a:outerShdw>
          </a:effectLst>
        </p:spPr>
      </p:sp>
      <p:sp>
        <p:nvSpPr>
          <p:cNvPr id="23" name="Shape 21"/>
          <p:cNvSpPr/>
          <p:nvPr/>
        </p:nvSpPr>
        <p:spPr>
          <a:xfrm>
            <a:off x="10136124" y="2331720"/>
            <a:ext cx="914400" cy="914400"/>
          </a:xfrm>
          <a:prstGeom prst="ellipse">
            <a:avLst/>
          </a:prstGeom>
          <a:solidFill>
            <a:srgbClr val="028090"/>
          </a:solidFill>
          <a:ln/>
        </p:spPr>
      </p:sp>
      <p:sp>
        <p:nvSpPr>
          <p:cNvPr id="24" name="Text 22"/>
          <p:cNvSpPr txBox="1"/>
          <p:nvPr/>
        </p:nvSpPr>
        <p:spPr>
          <a:xfrm>
            <a:off x="10136124" y="233172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4</a:t>
            </a:r>
            <a:endParaRPr lang="en-US" sz="3000" dirty="0"/>
          </a:p>
        </p:txBody>
      </p:sp>
      <p:sp>
        <p:nvSpPr>
          <p:cNvPr id="25" name="Text 23"/>
          <p:cNvSpPr txBox="1"/>
          <p:nvPr/>
        </p:nvSpPr>
        <p:spPr>
          <a:xfrm>
            <a:off x="9427464" y="3429000"/>
            <a:ext cx="2331720" cy="411480"/>
          </a:xfrm>
          <a:prstGeom prst="rect">
            <a:avLst/>
          </a:prstGeom>
          <a:noFill/>
          <a:ln/>
        </p:spPr>
        <p:txBody>
          <a:bodyPr wrap="square" lIns="0" tIns="0" rIns="0" bIns="0" rtlCol="0" anchor="ctr"/>
          <a:lstStyle/>
          <a:p>
            <a:pPr algn="ctr" indent="0" marL="0">
              <a:buNone/>
            </a:pPr>
            <a:r>
              <a:rPr lang="en-US" sz="1900" b="1" dirty="0">
                <a:solidFill>
                  <a:srgbClr val="17323B"/>
                </a:solidFill>
                <a:latin typeface="Cambria" pitchFamily="34" charset="0"/>
                <a:ea typeface="Cambria" pitchFamily="34" charset="-122"/>
                <a:cs typeface="Cambria" pitchFamily="34" charset="-120"/>
              </a:rPr>
              <a:t>Anyone</a:t>
            </a:r>
            <a:endParaRPr lang="en-US" sz="1900" dirty="0"/>
          </a:p>
        </p:txBody>
      </p:sp>
      <p:sp>
        <p:nvSpPr>
          <p:cNvPr id="26" name="Text 24"/>
          <p:cNvSpPr txBox="1"/>
          <p:nvPr/>
        </p:nvSpPr>
        <p:spPr>
          <a:xfrm>
            <a:off x="9518904" y="3886200"/>
            <a:ext cx="2148840" cy="1371600"/>
          </a:xfrm>
          <a:prstGeom prst="rect">
            <a:avLst/>
          </a:prstGeom>
          <a:noFill/>
          <a:ln/>
        </p:spPr>
        <p:txBody>
          <a:bodyPr wrap="square" lIns="0" tIns="0" rIns="0" bIns="0" rtlCol="0" anchor="ctr"/>
          <a:lstStyle/>
          <a:p>
            <a:pPr algn="ctr" indent="0" marL="0">
              <a:buNone/>
            </a:pPr>
            <a:r>
              <a:rPr lang="en-US" sz="1350" dirty="0">
                <a:solidFill>
                  <a:srgbClr val="5C7079"/>
                </a:solidFill>
                <a:latin typeface="Calibri" pitchFamily="34" charset="0"/>
                <a:ea typeface="Calibri" pitchFamily="34" charset="-122"/>
                <a:cs typeface="Calibri" pitchFamily="34" charset="-120"/>
              </a:rPr>
              <a:t>verifies the tamper-proof attendee list on-chain</a:t>
            </a:r>
            <a:endParaRPr lang="en-US" sz="1350" dirty="0"/>
          </a:p>
        </p:txBody>
      </p:sp>
      <p:sp>
        <p:nvSpPr>
          <p:cNvPr id="27" name="Text 25"/>
          <p:cNvSpPr txBox="1"/>
          <p:nvPr/>
        </p:nvSpPr>
        <p:spPr>
          <a:xfrm>
            <a:off x="548640" y="5806440"/>
            <a:ext cx="11094415" cy="457200"/>
          </a:xfrm>
          <a:prstGeom prst="rect">
            <a:avLst/>
          </a:prstGeom>
          <a:noFill/>
          <a:ln/>
        </p:spPr>
        <p:txBody>
          <a:bodyPr wrap="square" lIns="0" tIns="0" rIns="0" bIns="0" rtlCol="0" anchor="ctr"/>
          <a:lstStyle/>
          <a:p>
            <a:pPr algn="ctr" indent="0" marL="0">
              <a:buNone/>
            </a:pPr>
            <a:r>
              <a:rPr lang="en-US" sz="1500" i="1" dirty="0">
                <a:solidFill>
                  <a:srgbClr val="17323B"/>
                </a:solidFill>
                <a:latin typeface="Calibri" pitchFamily="34" charset="0"/>
                <a:ea typeface="Calibri" pitchFamily="34" charset="-122"/>
                <a:cs typeface="Calibri" pitchFamily="34" charset="-120"/>
              </a:rPr>
              <a:t>The key move: a student can only ever mark themselves — the contract credits msg.sender, no one else.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6F7"/>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300" kern="0" dirty="0">
                <a:solidFill>
                  <a:srgbClr val="028090"/>
                </a:solidFill>
                <a:latin typeface="Calibri" pitchFamily="34" charset="0"/>
                <a:ea typeface="Calibri" pitchFamily="34" charset="-122"/>
                <a:cs typeface="Calibri" pitchFamily="34" charset="-120"/>
              </a:rPr>
              <a:t>HOW ATTACKS ARE STOPPED</a:t>
            </a:r>
            <a:endParaRPr lang="en-US" sz="1200" dirty="0"/>
          </a:p>
        </p:txBody>
      </p:sp>
      <p:sp>
        <p:nvSpPr>
          <p:cNvPr id="3" name="Text 1"/>
          <p:cNvSpPr txBox="1"/>
          <p:nvPr/>
        </p:nvSpPr>
        <p:spPr>
          <a:xfrm>
            <a:off x="548640" y="713232"/>
            <a:ext cx="11094415" cy="731520"/>
          </a:xfrm>
          <a:prstGeom prst="rect">
            <a:avLst/>
          </a:prstGeom>
          <a:noFill/>
          <a:ln/>
        </p:spPr>
        <p:txBody>
          <a:bodyPr wrap="square" lIns="0" tIns="0" rIns="0" bIns="0" rtlCol="0" anchor="ctr"/>
          <a:lstStyle/>
          <a:p>
            <a:pPr indent="0" marL="0">
              <a:buNone/>
            </a:pPr>
            <a:r>
              <a:rPr lang="en-US" sz="3400" b="1" dirty="0">
                <a:solidFill>
                  <a:srgbClr val="17323B"/>
                </a:solidFill>
                <a:latin typeface="Cambria" pitchFamily="34" charset="0"/>
                <a:ea typeface="Cambria" pitchFamily="34" charset="-122"/>
                <a:cs typeface="Cambria" pitchFamily="34" charset="-120"/>
              </a:rPr>
              <a:t>One contract, four guarantees</a:t>
            </a:r>
            <a:endParaRPr lang="en-US" sz="3400" dirty="0"/>
          </a:p>
        </p:txBody>
      </p:sp>
      <p:sp>
        <p:nvSpPr>
          <p:cNvPr id="4" name="Shape 2"/>
          <p:cNvSpPr/>
          <p:nvPr/>
        </p:nvSpPr>
        <p:spPr>
          <a:xfrm>
            <a:off x="548640" y="1874520"/>
            <a:ext cx="5318608" cy="1783080"/>
          </a:xfrm>
          <a:prstGeom prst="roundRect">
            <a:avLst>
              <a:gd name="adj" fmla="val 6154"/>
            </a:avLst>
          </a:prstGeom>
          <a:solidFill>
            <a:srgbClr val="FFFFFF"/>
          </a:solidFill>
          <a:ln w="12700">
            <a:solidFill>
              <a:srgbClr val="DCE6E8"/>
            </a:solidFill>
            <a:prstDash val="solid"/>
          </a:ln>
          <a:effectLst>
            <a:outerShdw sx="100000" sy="100000" kx="0" ky="0" algn="bl" rotWithShape="0" blurRad="114300" dist="38100" dir="5400000">
              <a:srgbClr val="0C2A33">
                <a:alpha val="16000"/>
              </a:srgbClr>
            </a:outerShdw>
          </a:effectLst>
        </p:spPr>
      </p:sp>
      <p:sp>
        <p:nvSpPr>
          <p:cNvPr id="5" name="Shape 3"/>
          <p:cNvSpPr/>
          <p:nvPr/>
        </p:nvSpPr>
        <p:spPr>
          <a:xfrm>
            <a:off x="804672" y="2148840"/>
            <a:ext cx="566928" cy="566928"/>
          </a:xfrm>
          <a:prstGeom prst="ellipse">
            <a:avLst/>
          </a:prstGeom>
          <a:solidFill>
            <a:srgbClr val="02C39A"/>
          </a:solidFill>
          <a:ln/>
        </p:spPr>
      </p:sp>
      <p:sp>
        <p:nvSpPr>
          <p:cNvPr id="6" name="Text 4"/>
          <p:cNvSpPr txBox="1"/>
          <p:nvPr/>
        </p:nvSpPr>
        <p:spPr>
          <a:xfrm>
            <a:off x="804672" y="2148840"/>
            <a:ext cx="566928"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a:t>
            </a:r>
            <a:endParaRPr lang="en-US" sz="2400" dirty="0"/>
          </a:p>
        </p:txBody>
      </p:sp>
      <p:sp>
        <p:nvSpPr>
          <p:cNvPr id="7" name="Text 5"/>
          <p:cNvSpPr txBox="1"/>
          <p:nvPr/>
        </p:nvSpPr>
        <p:spPr>
          <a:xfrm>
            <a:off x="1554480" y="2075688"/>
            <a:ext cx="4038448" cy="411480"/>
          </a:xfrm>
          <a:prstGeom prst="rect">
            <a:avLst/>
          </a:prstGeom>
          <a:noFill/>
          <a:ln/>
        </p:spPr>
        <p:txBody>
          <a:bodyPr wrap="square" lIns="0" tIns="0" rIns="0" bIns="0" rtlCol="0" anchor="ctr"/>
          <a:lstStyle/>
          <a:p>
            <a:pPr indent="0" marL="0">
              <a:buNone/>
            </a:pPr>
            <a:r>
              <a:rPr lang="en-US" sz="1800" b="1" dirty="0">
                <a:solidFill>
                  <a:srgbClr val="17323B"/>
                </a:solidFill>
                <a:latin typeface="Cambria" pitchFamily="34" charset="0"/>
                <a:ea typeface="Cambria" pitchFamily="34" charset="-122"/>
                <a:cs typeface="Cambria" pitchFamily="34" charset="-120"/>
              </a:rPr>
              <a:t>Proxy attendance</a:t>
            </a:r>
            <a:endParaRPr lang="en-US" sz="1800" dirty="0"/>
          </a:p>
        </p:txBody>
      </p:sp>
      <p:sp>
        <p:nvSpPr>
          <p:cNvPr id="8" name="Text 6"/>
          <p:cNvSpPr txBox="1"/>
          <p:nvPr/>
        </p:nvSpPr>
        <p:spPr>
          <a:xfrm>
            <a:off x="1554480" y="2532888"/>
            <a:ext cx="4084168" cy="1005840"/>
          </a:xfrm>
          <a:prstGeom prst="rect">
            <a:avLst/>
          </a:prstGeom>
          <a:noFill/>
          <a:ln/>
        </p:spPr>
        <p:txBody>
          <a:bodyPr wrap="square" lIns="0" tIns="0" rIns="0" bIns="0" rtlCol="0" anchor="ctr"/>
          <a:lstStyle/>
          <a:p>
            <a:pPr indent="0" marL="0">
              <a:buNone/>
            </a:pPr>
            <a:r>
              <a:rPr lang="en-US" sz="1350" dirty="0">
                <a:solidFill>
                  <a:srgbClr val="5C7079"/>
                </a:solidFill>
                <a:latin typeface="Calibri" pitchFamily="34" charset="0"/>
                <a:ea typeface="Calibri" pitchFamily="34" charset="-122"/>
                <a:cs typeface="Calibri" pitchFamily="34" charset="-120"/>
              </a:rPr>
              <a:t>You mark from your own wallet. A transaction must be signed by your private key — you cannot sign as your friend.</a:t>
            </a:r>
            <a:endParaRPr lang="en-US" sz="1350" dirty="0"/>
          </a:p>
        </p:txBody>
      </p:sp>
      <p:sp>
        <p:nvSpPr>
          <p:cNvPr id="9" name="Shape 7"/>
          <p:cNvSpPr/>
          <p:nvPr/>
        </p:nvSpPr>
        <p:spPr>
          <a:xfrm>
            <a:off x="6324448" y="1874520"/>
            <a:ext cx="5318608" cy="1783080"/>
          </a:xfrm>
          <a:prstGeom prst="roundRect">
            <a:avLst>
              <a:gd name="adj" fmla="val 6154"/>
            </a:avLst>
          </a:prstGeom>
          <a:solidFill>
            <a:srgbClr val="FFFFFF"/>
          </a:solidFill>
          <a:ln w="12700">
            <a:solidFill>
              <a:srgbClr val="DCE6E8"/>
            </a:solidFill>
            <a:prstDash val="solid"/>
          </a:ln>
          <a:effectLst>
            <a:outerShdw sx="100000" sy="100000" kx="0" ky="0" algn="bl" rotWithShape="0" blurRad="114300" dist="38100" dir="5400000">
              <a:srgbClr val="0C2A33">
                <a:alpha val="16000"/>
              </a:srgbClr>
            </a:outerShdw>
          </a:effectLst>
        </p:spPr>
      </p:sp>
      <p:sp>
        <p:nvSpPr>
          <p:cNvPr id="10" name="Shape 8"/>
          <p:cNvSpPr/>
          <p:nvPr/>
        </p:nvSpPr>
        <p:spPr>
          <a:xfrm>
            <a:off x="6580480" y="2148840"/>
            <a:ext cx="566928" cy="566928"/>
          </a:xfrm>
          <a:prstGeom prst="ellipse">
            <a:avLst/>
          </a:prstGeom>
          <a:solidFill>
            <a:srgbClr val="02C39A"/>
          </a:solidFill>
          <a:ln/>
        </p:spPr>
      </p:sp>
      <p:sp>
        <p:nvSpPr>
          <p:cNvPr id="11" name="Text 9"/>
          <p:cNvSpPr txBox="1"/>
          <p:nvPr/>
        </p:nvSpPr>
        <p:spPr>
          <a:xfrm>
            <a:off x="6580480" y="2148840"/>
            <a:ext cx="566928"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a:t>
            </a:r>
            <a:endParaRPr lang="en-US" sz="2400" dirty="0"/>
          </a:p>
        </p:txBody>
      </p:sp>
      <p:sp>
        <p:nvSpPr>
          <p:cNvPr id="12" name="Text 10"/>
          <p:cNvSpPr txBox="1"/>
          <p:nvPr/>
        </p:nvSpPr>
        <p:spPr>
          <a:xfrm>
            <a:off x="7330288" y="2075688"/>
            <a:ext cx="4038448" cy="411480"/>
          </a:xfrm>
          <a:prstGeom prst="rect">
            <a:avLst/>
          </a:prstGeom>
          <a:noFill/>
          <a:ln/>
        </p:spPr>
        <p:txBody>
          <a:bodyPr wrap="square" lIns="0" tIns="0" rIns="0" bIns="0" rtlCol="0" anchor="ctr"/>
          <a:lstStyle/>
          <a:p>
            <a:pPr indent="0" marL="0">
              <a:buNone/>
            </a:pPr>
            <a:r>
              <a:rPr lang="en-US" sz="1800" b="1" dirty="0">
                <a:solidFill>
                  <a:srgbClr val="17323B"/>
                </a:solidFill>
                <a:latin typeface="Cambria" pitchFamily="34" charset="0"/>
                <a:ea typeface="Cambria" pitchFamily="34" charset="-122"/>
                <a:cs typeface="Cambria" pitchFamily="34" charset="-120"/>
              </a:rPr>
              <a:t>Double marking</a:t>
            </a:r>
            <a:endParaRPr lang="en-US" sz="1800" dirty="0"/>
          </a:p>
        </p:txBody>
      </p:sp>
      <p:sp>
        <p:nvSpPr>
          <p:cNvPr id="13" name="Text 11"/>
          <p:cNvSpPr txBox="1"/>
          <p:nvPr/>
        </p:nvSpPr>
        <p:spPr>
          <a:xfrm>
            <a:off x="7330288" y="2532888"/>
            <a:ext cx="4084168" cy="1005840"/>
          </a:xfrm>
          <a:prstGeom prst="rect">
            <a:avLst/>
          </a:prstGeom>
          <a:noFill/>
          <a:ln/>
        </p:spPr>
        <p:txBody>
          <a:bodyPr wrap="square" lIns="0" tIns="0" rIns="0" bIns="0" rtlCol="0" anchor="ctr"/>
          <a:lstStyle/>
          <a:p>
            <a:pPr indent="0" marL="0">
              <a:buNone/>
            </a:pPr>
            <a:r>
              <a:rPr lang="en-US" sz="1350" dirty="0">
                <a:solidFill>
                  <a:srgbClr val="5C7079"/>
                </a:solidFill>
                <a:latin typeface="Calibri" pitchFamily="34" charset="0"/>
                <a:ea typeface="Calibri" pitchFamily="34" charset="-122"/>
                <a:cs typeface="Calibri" pitchFamily="34" charset="-120"/>
              </a:rPr>
              <a:t>The contract stores one mark per student per session. A second attempt reverts.</a:t>
            </a:r>
            <a:endParaRPr lang="en-US" sz="1350" dirty="0"/>
          </a:p>
        </p:txBody>
      </p:sp>
      <p:sp>
        <p:nvSpPr>
          <p:cNvPr id="14" name="Shape 12"/>
          <p:cNvSpPr/>
          <p:nvPr/>
        </p:nvSpPr>
        <p:spPr>
          <a:xfrm>
            <a:off x="548640" y="3977640"/>
            <a:ext cx="5318608" cy="1783080"/>
          </a:xfrm>
          <a:prstGeom prst="roundRect">
            <a:avLst>
              <a:gd name="adj" fmla="val 6154"/>
            </a:avLst>
          </a:prstGeom>
          <a:solidFill>
            <a:srgbClr val="FFFFFF"/>
          </a:solidFill>
          <a:ln w="12700">
            <a:solidFill>
              <a:srgbClr val="DCE6E8"/>
            </a:solidFill>
            <a:prstDash val="solid"/>
          </a:ln>
          <a:effectLst>
            <a:outerShdw sx="100000" sy="100000" kx="0" ky="0" algn="bl" rotWithShape="0" blurRad="114300" dist="38100" dir="5400000">
              <a:srgbClr val="0C2A33">
                <a:alpha val="16000"/>
              </a:srgbClr>
            </a:outerShdw>
          </a:effectLst>
        </p:spPr>
      </p:sp>
      <p:sp>
        <p:nvSpPr>
          <p:cNvPr id="15" name="Shape 13"/>
          <p:cNvSpPr/>
          <p:nvPr/>
        </p:nvSpPr>
        <p:spPr>
          <a:xfrm>
            <a:off x="804672" y="4251960"/>
            <a:ext cx="566928" cy="566928"/>
          </a:xfrm>
          <a:prstGeom prst="ellipse">
            <a:avLst/>
          </a:prstGeom>
          <a:solidFill>
            <a:srgbClr val="02C39A"/>
          </a:solidFill>
          <a:ln/>
        </p:spPr>
      </p:sp>
      <p:sp>
        <p:nvSpPr>
          <p:cNvPr id="16" name="Text 14"/>
          <p:cNvSpPr txBox="1"/>
          <p:nvPr/>
        </p:nvSpPr>
        <p:spPr>
          <a:xfrm>
            <a:off x="804672" y="4251960"/>
            <a:ext cx="566928"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a:t>
            </a:r>
            <a:endParaRPr lang="en-US" sz="2400" dirty="0"/>
          </a:p>
        </p:txBody>
      </p:sp>
      <p:sp>
        <p:nvSpPr>
          <p:cNvPr id="17" name="Text 15"/>
          <p:cNvSpPr txBox="1"/>
          <p:nvPr/>
        </p:nvSpPr>
        <p:spPr>
          <a:xfrm>
            <a:off x="1554480" y="4178808"/>
            <a:ext cx="4038448" cy="411480"/>
          </a:xfrm>
          <a:prstGeom prst="rect">
            <a:avLst/>
          </a:prstGeom>
          <a:noFill/>
          <a:ln/>
        </p:spPr>
        <p:txBody>
          <a:bodyPr wrap="square" lIns="0" tIns="0" rIns="0" bIns="0" rtlCol="0" anchor="ctr"/>
          <a:lstStyle/>
          <a:p>
            <a:pPr indent="0" marL="0">
              <a:buNone/>
            </a:pPr>
            <a:r>
              <a:rPr lang="en-US" sz="1800" b="1" dirty="0">
                <a:solidFill>
                  <a:srgbClr val="17323B"/>
                </a:solidFill>
                <a:latin typeface="Cambria" pitchFamily="34" charset="0"/>
                <a:ea typeface="Cambria" pitchFamily="34" charset="-122"/>
                <a:cs typeface="Cambria" pitchFamily="34" charset="-120"/>
              </a:rPr>
              <a:t>Back-dating</a:t>
            </a:r>
            <a:endParaRPr lang="en-US" sz="1800" dirty="0"/>
          </a:p>
        </p:txBody>
      </p:sp>
      <p:sp>
        <p:nvSpPr>
          <p:cNvPr id="18" name="Text 16"/>
          <p:cNvSpPr txBox="1"/>
          <p:nvPr/>
        </p:nvSpPr>
        <p:spPr>
          <a:xfrm>
            <a:off x="1554480" y="4636008"/>
            <a:ext cx="4084168" cy="1005840"/>
          </a:xfrm>
          <a:prstGeom prst="rect">
            <a:avLst/>
          </a:prstGeom>
          <a:noFill/>
          <a:ln/>
        </p:spPr>
        <p:txBody>
          <a:bodyPr wrap="square" lIns="0" tIns="0" rIns="0" bIns="0" rtlCol="0" anchor="ctr"/>
          <a:lstStyle/>
          <a:p>
            <a:pPr indent="0" marL="0">
              <a:buNone/>
            </a:pPr>
            <a:r>
              <a:rPr lang="en-US" sz="1350" dirty="0">
                <a:solidFill>
                  <a:srgbClr val="5C7079"/>
                </a:solidFill>
                <a:latin typeface="Calibri" pitchFamily="34" charset="0"/>
                <a:ea typeface="Calibri" pitchFamily="34" charset="-122"/>
                <a:cs typeface="Calibri" pitchFamily="34" charset="-120"/>
              </a:rPr>
              <a:t>Marking works only while the teacher has the session open. No editing later.</a:t>
            </a:r>
            <a:endParaRPr lang="en-US" sz="1350" dirty="0"/>
          </a:p>
        </p:txBody>
      </p:sp>
      <p:sp>
        <p:nvSpPr>
          <p:cNvPr id="19" name="Shape 17"/>
          <p:cNvSpPr/>
          <p:nvPr/>
        </p:nvSpPr>
        <p:spPr>
          <a:xfrm>
            <a:off x="6324448" y="3977640"/>
            <a:ext cx="5318608" cy="1783080"/>
          </a:xfrm>
          <a:prstGeom prst="roundRect">
            <a:avLst>
              <a:gd name="adj" fmla="val 6154"/>
            </a:avLst>
          </a:prstGeom>
          <a:solidFill>
            <a:srgbClr val="FFFFFF"/>
          </a:solidFill>
          <a:ln w="12700">
            <a:solidFill>
              <a:srgbClr val="DCE6E8"/>
            </a:solidFill>
            <a:prstDash val="solid"/>
          </a:ln>
          <a:effectLst>
            <a:outerShdw sx="100000" sy="100000" kx="0" ky="0" algn="bl" rotWithShape="0" blurRad="114300" dist="38100" dir="5400000">
              <a:srgbClr val="0C2A33">
                <a:alpha val="16000"/>
              </a:srgbClr>
            </a:outerShdw>
          </a:effectLst>
        </p:spPr>
      </p:sp>
      <p:sp>
        <p:nvSpPr>
          <p:cNvPr id="20" name="Shape 18"/>
          <p:cNvSpPr/>
          <p:nvPr/>
        </p:nvSpPr>
        <p:spPr>
          <a:xfrm>
            <a:off x="6580480" y="4251960"/>
            <a:ext cx="566928" cy="566928"/>
          </a:xfrm>
          <a:prstGeom prst="ellipse">
            <a:avLst/>
          </a:prstGeom>
          <a:solidFill>
            <a:srgbClr val="02C39A"/>
          </a:solidFill>
          <a:ln/>
        </p:spPr>
      </p:sp>
      <p:sp>
        <p:nvSpPr>
          <p:cNvPr id="21" name="Text 19"/>
          <p:cNvSpPr txBox="1"/>
          <p:nvPr/>
        </p:nvSpPr>
        <p:spPr>
          <a:xfrm>
            <a:off x="6580480" y="4251960"/>
            <a:ext cx="566928"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a:t>
            </a:r>
            <a:endParaRPr lang="en-US" sz="2400" dirty="0"/>
          </a:p>
        </p:txBody>
      </p:sp>
      <p:sp>
        <p:nvSpPr>
          <p:cNvPr id="22" name="Text 20"/>
          <p:cNvSpPr txBox="1"/>
          <p:nvPr/>
        </p:nvSpPr>
        <p:spPr>
          <a:xfrm>
            <a:off x="7330288" y="4178808"/>
            <a:ext cx="4038448" cy="411480"/>
          </a:xfrm>
          <a:prstGeom prst="rect">
            <a:avLst/>
          </a:prstGeom>
          <a:noFill/>
          <a:ln/>
        </p:spPr>
        <p:txBody>
          <a:bodyPr wrap="square" lIns="0" tIns="0" rIns="0" bIns="0" rtlCol="0" anchor="ctr"/>
          <a:lstStyle/>
          <a:p>
            <a:pPr indent="0" marL="0">
              <a:buNone/>
            </a:pPr>
            <a:r>
              <a:rPr lang="en-US" sz="1800" b="1" dirty="0">
                <a:solidFill>
                  <a:srgbClr val="17323B"/>
                </a:solidFill>
                <a:latin typeface="Cambria" pitchFamily="34" charset="0"/>
                <a:ea typeface="Cambria" pitchFamily="34" charset="-122"/>
                <a:cs typeface="Cambria" pitchFamily="34" charset="-120"/>
              </a:rPr>
              <a:t>Tampering / deletion</a:t>
            </a:r>
            <a:endParaRPr lang="en-US" sz="1800" dirty="0"/>
          </a:p>
        </p:txBody>
      </p:sp>
      <p:sp>
        <p:nvSpPr>
          <p:cNvPr id="23" name="Text 21"/>
          <p:cNvSpPr txBox="1"/>
          <p:nvPr/>
        </p:nvSpPr>
        <p:spPr>
          <a:xfrm>
            <a:off x="7330288" y="4636008"/>
            <a:ext cx="4084168" cy="1005840"/>
          </a:xfrm>
          <a:prstGeom prst="rect">
            <a:avLst/>
          </a:prstGeom>
          <a:noFill/>
          <a:ln/>
        </p:spPr>
        <p:txBody>
          <a:bodyPr wrap="square" lIns="0" tIns="0" rIns="0" bIns="0" rtlCol="0" anchor="ctr"/>
          <a:lstStyle/>
          <a:p>
            <a:pPr indent="0" marL="0">
              <a:buNone/>
            </a:pPr>
            <a:r>
              <a:rPr lang="en-US" sz="1350" dirty="0">
                <a:solidFill>
                  <a:srgbClr val="5C7079"/>
                </a:solidFill>
                <a:latin typeface="Calibri" pitchFamily="34" charset="0"/>
                <a:ea typeface="Calibri" pitchFamily="34" charset="-122"/>
                <a:cs typeface="Calibri" pitchFamily="34" charset="-120"/>
              </a:rPr>
              <a:t>Records live on-chain and are immutable — not even the admin can change them.</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2A33"/>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300" kern="0" dirty="0">
                <a:solidFill>
                  <a:srgbClr val="02C39A"/>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48640" y="713232"/>
            <a:ext cx="11094415"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How the pieces fit</a:t>
            </a:r>
            <a:endParaRPr lang="en-US" sz="3400" dirty="0"/>
          </a:p>
        </p:txBody>
      </p:sp>
      <p:sp>
        <p:nvSpPr>
          <p:cNvPr id="4" name="Shape 2"/>
          <p:cNvSpPr/>
          <p:nvPr/>
        </p:nvSpPr>
        <p:spPr>
          <a:xfrm>
            <a:off x="548640" y="2651760"/>
            <a:ext cx="2514600" cy="1737360"/>
          </a:xfrm>
          <a:prstGeom prst="roundRect">
            <a:avLst>
              <a:gd name="adj" fmla="val 6316"/>
            </a:avLst>
          </a:prstGeom>
          <a:solidFill>
            <a:srgbClr val="0F3742"/>
          </a:solidFill>
          <a:ln w="25400">
            <a:solidFill>
              <a:srgbClr val="028090"/>
            </a:solidFill>
            <a:prstDash val="solid"/>
          </a:ln>
        </p:spPr>
      </p:sp>
      <p:sp>
        <p:nvSpPr>
          <p:cNvPr id="5" name="Text 3"/>
          <p:cNvSpPr txBox="1"/>
          <p:nvPr/>
        </p:nvSpPr>
        <p:spPr>
          <a:xfrm>
            <a:off x="548640" y="2907792"/>
            <a:ext cx="2514600" cy="457200"/>
          </a:xfrm>
          <a:prstGeom prst="rect">
            <a:avLst/>
          </a:prstGeom>
          <a:noFill/>
          <a:ln/>
        </p:spPr>
        <p:txBody>
          <a:bodyPr wrap="square" lIns="0" tIns="0" rIns="0" bIns="0" rtlCol="0" anchor="ctr"/>
          <a:lstStyle/>
          <a:p>
            <a:pPr algn="ctr" indent="0" marL="0">
              <a:buNone/>
            </a:pPr>
            <a:r>
              <a:rPr lang="en-US" sz="1900" b="1" dirty="0">
                <a:solidFill>
                  <a:srgbClr val="028090"/>
                </a:solidFill>
                <a:latin typeface="Cambria" pitchFamily="34" charset="0"/>
                <a:ea typeface="Cambria" pitchFamily="34" charset="-122"/>
                <a:cs typeface="Cambria" pitchFamily="34" charset="-120"/>
              </a:rPr>
              <a:t>Web UI</a:t>
            </a:r>
            <a:endParaRPr lang="en-US" sz="1900" dirty="0"/>
          </a:p>
        </p:txBody>
      </p:sp>
      <p:sp>
        <p:nvSpPr>
          <p:cNvPr id="6" name="Text 4"/>
          <p:cNvSpPr txBox="1"/>
          <p:nvPr/>
        </p:nvSpPr>
        <p:spPr>
          <a:xfrm>
            <a:off x="640080" y="3429000"/>
            <a:ext cx="2331720" cy="822960"/>
          </a:xfrm>
          <a:prstGeom prst="rect">
            <a:avLst/>
          </a:prstGeom>
          <a:noFill/>
          <a:ln/>
        </p:spPr>
        <p:txBody>
          <a:bodyPr wrap="square" lIns="0" tIns="0" rIns="0" bIns="0" rtlCol="0" anchor="ctr"/>
          <a:lstStyle/>
          <a:p>
            <a:pPr algn="ctr" indent="0" marL="0">
              <a:buNone/>
            </a:pPr>
            <a:r>
              <a:rPr lang="en-US" sz="1250" dirty="0">
                <a:solidFill>
                  <a:srgbClr val="CFE0E0"/>
                </a:solidFill>
                <a:latin typeface="Calibri" pitchFamily="34" charset="0"/>
                <a:ea typeface="Calibri" pitchFamily="34" charset="-122"/>
                <a:cs typeface="Calibri" pitchFamily="34" charset="-120"/>
              </a:rPr>
              <a:t>HTML + ethers.js</a:t>
            </a:r>
            <a:endParaRPr lang="en-US" sz="1250" dirty="0"/>
          </a:p>
          <a:p>
            <a:pPr algn="ctr" indent="0" marL="0">
              <a:buNone/>
            </a:pPr>
            <a:r>
              <a:rPr lang="en-US" sz="1250" dirty="0">
                <a:solidFill>
                  <a:srgbClr val="CFE0E0"/>
                </a:solidFill>
                <a:latin typeface="Calibri" pitchFamily="34" charset="0"/>
                <a:ea typeface="Calibri" pitchFamily="34" charset="-122"/>
                <a:cs typeface="Calibri" pitchFamily="34" charset="-120"/>
              </a:rPr>
              <a:t>Role-based dashboard</a:t>
            </a:r>
            <a:endParaRPr lang="en-US" sz="1250" dirty="0"/>
          </a:p>
        </p:txBody>
      </p:sp>
      <p:sp>
        <p:nvSpPr>
          <p:cNvPr id="7" name="Text 5"/>
          <p:cNvSpPr txBox="1"/>
          <p:nvPr/>
        </p:nvSpPr>
        <p:spPr>
          <a:xfrm>
            <a:off x="3017520" y="3154680"/>
            <a:ext cx="438912" cy="640080"/>
          </a:xfrm>
          <a:prstGeom prst="rect">
            <a:avLst/>
          </a:prstGeom>
          <a:noFill/>
          <a:ln/>
        </p:spPr>
        <p:txBody>
          <a:bodyPr wrap="square" lIns="0" tIns="0" rIns="0" bIns="0" rtlCol="0" anchor="ctr"/>
          <a:lstStyle/>
          <a:p>
            <a:pPr algn="ctr" indent="0" marL="0">
              <a:buNone/>
            </a:pPr>
            <a:r>
              <a:rPr lang="en-US" sz="2400" b="1" dirty="0">
                <a:solidFill>
                  <a:srgbClr val="02C39A"/>
                </a:solidFill>
                <a:latin typeface="Calibri" pitchFamily="34" charset="0"/>
                <a:ea typeface="Calibri" pitchFamily="34" charset="-122"/>
                <a:cs typeface="Calibri" pitchFamily="34" charset="-120"/>
              </a:rPr>
              <a:t>⇄</a:t>
            </a:r>
            <a:endParaRPr lang="en-US" sz="2400" dirty="0"/>
          </a:p>
        </p:txBody>
      </p:sp>
      <p:sp>
        <p:nvSpPr>
          <p:cNvPr id="8" name="Shape 6"/>
          <p:cNvSpPr/>
          <p:nvPr/>
        </p:nvSpPr>
        <p:spPr>
          <a:xfrm>
            <a:off x="3410712" y="2651760"/>
            <a:ext cx="2514600" cy="1737360"/>
          </a:xfrm>
          <a:prstGeom prst="roundRect">
            <a:avLst>
              <a:gd name="adj" fmla="val 6316"/>
            </a:avLst>
          </a:prstGeom>
          <a:solidFill>
            <a:srgbClr val="0F3742"/>
          </a:solidFill>
          <a:ln w="25400">
            <a:solidFill>
              <a:srgbClr val="00A896"/>
            </a:solidFill>
            <a:prstDash val="solid"/>
          </a:ln>
        </p:spPr>
      </p:sp>
      <p:sp>
        <p:nvSpPr>
          <p:cNvPr id="9" name="Text 7"/>
          <p:cNvSpPr txBox="1"/>
          <p:nvPr/>
        </p:nvSpPr>
        <p:spPr>
          <a:xfrm>
            <a:off x="3410712" y="2907792"/>
            <a:ext cx="2514600" cy="457200"/>
          </a:xfrm>
          <a:prstGeom prst="rect">
            <a:avLst/>
          </a:prstGeom>
          <a:noFill/>
          <a:ln/>
        </p:spPr>
        <p:txBody>
          <a:bodyPr wrap="square" lIns="0" tIns="0" rIns="0" bIns="0" rtlCol="0" anchor="ctr"/>
          <a:lstStyle/>
          <a:p>
            <a:pPr algn="ctr" indent="0" marL="0">
              <a:buNone/>
            </a:pPr>
            <a:r>
              <a:rPr lang="en-US" sz="1900" b="1" dirty="0">
                <a:solidFill>
                  <a:srgbClr val="00A896"/>
                </a:solidFill>
                <a:latin typeface="Cambria" pitchFamily="34" charset="0"/>
                <a:ea typeface="Cambria" pitchFamily="34" charset="-122"/>
                <a:cs typeface="Cambria" pitchFamily="34" charset="-120"/>
              </a:rPr>
              <a:t>MetaMask</a:t>
            </a:r>
            <a:endParaRPr lang="en-US" sz="1900" dirty="0"/>
          </a:p>
        </p:txBody>
      </p:sp>
      <p:sp>
        <p:nvSpPr>
          <p:cNvPr id="10" name="Text 8"/>
          <p:cNvSpPr txBox="1"/>
          <p:nvPr/>
        </p:nvSpPr>
        <p:spPr>
          <a:xfrm>
            <a:off x="3502152" y="3429000"/>
            <a:ext cx="2331720" cy="822960"/>
          </a:xfrm>
          <a:prstGeom prst="rect">
            <a:avLst/>
          </a:prstGeom>
          <a:noFill/>
          <a:ln/>
        </p:spPr>
        <p:txBody>
          <a:bodyPr wrap="square" lIns="0" tIns="0" rIns="0" bIns="0" rtlCol="0" anchor="ctr"/>
          <a:lstStyle/>
          <a:p>
            <a:pPr algn="ctr" indent="0" marL="0">
              <a:buNone/>
            </a:pPr>
            <a:r>
              <a:rPr lang="en-US" sz="1250" dirty="0">
                <a:solidFill>
                  <a:srgbClr val="CFE0E0"/>
                </a:solidFill>
                <a:latin typeface="Calibri" pitchFamily="34" charset="0"/>
                <a:ea typeface="Calibri" pitchFamily="34" charset="-122"/>
                <a:cs typeface="Calibri" pitchFamily="34" charset="-120"/>
              </a:rPr>
              <a:t>Signs each action</a:t>
            </a:r>
            <a:endParaRPr lang="en-US" sz="1250" dirty="0"/>
          </a:p>
          <a:p>
            <a:pPr algn="ctr" indent="0" marL="0">
              <a:buNone/>
            </a:pPr>
            <a:r>
              <a:rPr lang="en-US" sz="1250" dirty="0">
                <a:solidFill>
                  <a:srgbClr val="CFE0E0"/>
                </a:solidFill>
                <a:latin typeface="Calibri" pitchFamily="34" charset="0"/>
                <a:ea typeface="Calibri" pitchFamily="34" charset="-122"/>
                <a:cs typeface="Calibri" pitchFamily="34" charset="-120"/>
              </a:rPr>
              <a:t>with the user's key</a:t>
            </a:r>
            <a:endParaRPr lang="en-US" sz="1250" dirty="0"/>
          </a:p>
        </p:txBody>
      </p:sp>
      <p:sp>
        <p:nvSpPr>
          <p:cNvPr id="11" name="Text 9"/>
          <p:cNvSpPr txBox="1"/>
          <p:nvPr/>
        </p:nvSpPr>
        <p:spPr>
          <a:xfrm>
            <a:off x="5879592" y="3154680"/>
            <a:ext cx="438912" cy="640080"/>
          </a:xfrm>
          <a:prstGeom prst="rect">
            <a:avLst/>
          </a:prstGeom>
          <a:noFill/>
          <a:ln/>
        </p:spPr>
        <p:txBody>
          <a:bodyPr wrap="square" lIns="0" tIns="0" rIns="0" bIns="0" rtlCol="0" anchor="ctr"/>
          <a:lstStyle/>
          <a:p>
            <a:pPr algn="ctr" indent="0" marL="0">
              <a:buNone/>
            </a:pPr>
            <a:r>
              <a:rPr lang="en-US" sz="2400" b="1" dirty="0">
                <a:solidFill>
                  <a:srgbClr val="02C39A"/>
                </a:solidFill>
                <a:latin typeface="Calibri" pitchFamily="34" charset="0"/>
                <a:ea typeface="Calibri" pitchFamily="34" charset="-122"/>
                <a:cs typeface="Calibri" pitchFamily="34" charset="-120"/>
              </a:rPr>
              <a:t>⇄</a:t>
            </a:r>
            <a:endParaRPr lang="en-US" sz="2400" dirty="0"/>
          </a:p>
        </p:txBody>
      </p:sp>
      <p:sp>
        <p:nvSpPr>
          <p:cNvPr id="12" name="Shape 10"/>
          <p:cNvSpPr/>
          <p:nvPr/>
        </p:nvSpPr>
        <p:spPr>
          <a:xfrm>
            <a:off x="6272784" y="2651760"/>
            <a:ext cx="2514600" cy="1737360"/>
          </a:xfrm>
          <a:prstGeom prst="roundRect">
            <a:avLst>
              <a:gd name="adj" fmla="val 6316"/>
            </a:avLst>
          </a:prstGeom>
          <a:solidFill>
            <a:srgbClr val="0F3742"/>
          </a:solidFill>
          <a:ln w="25400">
            <a:solidFill>
              <a:srgbClr val="02C39A"/>
            </a:solidFill>
            <a:prstDash val="solid"/>
          </a:ln>
        </p:spPr>
      </p:sp>
      <p:sp>
        <p:nvSpPr>
          <p:cNvPr id="13" name="Text 11"/>
          <p:cNvSpPr txBox="1"/>
          <p:nvPr/>
        </p:nvSpPr>
        <p:spPr>
          <a:xfrm>
            <a:off x="6272784" y="2907792"/>
            <a:ext cx="2514600" cy="457200"/>
          </a:xfrm>
          <a:prstGeom prst="rect">
            <a:avLst/>
          </a:prstGeom>
          <a:noFill/>
          <a:ln/>
        </p:spPr>
        <p:txBody>
          <a:bodyPr wrap="square" lIns="0" tIns="0" rIns="0" bIns="0" rtlCol="0" anchor="ctr"/>
          <a:lstStyle/>
          <a:p>
            <a:pPr algn="ctr" indent="0" marL="0">
              <a:buNone/>
            </a:pPr>
            <a:r>
              <a:rPr lang="en-US" sz="1900" b="1" dirty="0">
                <a:solidFill>
                  <a:srgbClr val="02C39A"/>
                </a:solidFill>
                <a:latin typeface="Cambria" pitchFamily="34" charset="0"/>
                <a:ea typeface="Cambria" pitchFamily="34" charset="-122"/>
                <a:cs typeface="Cambria" pitchFamily="34" charset="-120"/>
              </a:rPr>
              <a:t>Smart Contract</a:t>
            </a:r>
            <a:endParaRPr lang="en-US" sz="1900" dirty="0"/>
          </a:p>
        </p:txBody>
      </p:sp>
      <p:sp>
        <p:nvSpPr>
          <p:cNvPr id="14" name="Text 12"/>
          <p:cNvSpPr txBox="1"/>
          <p:nvPr/>
        </p:nvSpPr>
        <p:spPr>
          <a:xfrm>
            <a:off x="6364224" y="3429000"/>
            <a:ext cx="2331720" cy="822960"/>
          </a:xfrm>
          <a:prstGeom prst="rect">
            <a:avLst/>
          </a:prstGeom>
          <a:noFill/>
          <a:ln/>
        </p:spPr>
        <p:txBody>
          <a:bodyPr wrap="square" lIns="0" tIns="0" rIns="0" bIns="0" rtlCol="0" anchor="ctr"/>
          <a:lstStyle/>
          <a:p>
            <a:pPr algn="ctr" indent="0" marL="0">
              <a:buNone/>
            </a:pPr>
            <a:r>
              <a:rPr lang="en-US" sz="1250" dirty="0">
                <a:solidFill>
                  <a:srgbClr val="CFE0E0"/>
                </a:solidFill>
                <a:latin typeface="Calibri" pitchFamily="34" charset="0"/>
                <a:ea typeface="Calibri" pitchFamily="34" charset="-122"/>
                <a:cs typeface="Calibri" pitchFamily="34" charset="-120"/>
              </a:rPr>
              <a:t>AttendChain.sol</a:t>
            </a:r>
            <a:endParaRPr lang="en-US" sz="1250" dirty="0"/>
          </a:p>
          <a:p>
            <a:pPr algn="ctr" indent="0" marL="0">
              <a:buNone/>
            </a:pPr>
            <a:r>
              <a:rPr lang="en-US" sz="1250" dirty="0">
                <a:solidFill>
                  <a:srgbClr val="CFE0E0"/>
                </a:solidFill>
                <a:latin typeface="Calibri" pitchFamily="34" charset="0"/>
                <a:ea typeface="Calibri" pitchFamily="34" charset="-122"/>
                <a:cs typeface="Calibri" pitchFamily="34" charset="-120"/>
              </a:rPr>
              <a:t>Rules + storage</a:t>
            </a:r>
            <a:endParaRPr lang="en-US" sz="1250" dirty="0"/>
          </a:p>
        </p:txBody>
      </p:sp>
      <p:sp>
        <p:nvSpPr>
          <p:cNvPr id="15" name="Text 13"/>
          <p:cNvSpPr txBox="1"/>
          <p:nvPr/>
        </p:nvSpPr>
        <p:spPr>
          <a:xfrm>
            <a:off x="8741664" y="3154680"/>
            <a:ext cx="438912" cy="640080"/>
          </a:xfrm>
          <a:prstGeom prst="rect">
            <a:avLst/>
          </a:prstGeom>
          <a:noFill/>
          <a:ln/>
        </p:spPr>
        <p:txBody>
          <a:bodyPr wrap="square" lIns="0" tIns="0" rIns="0" bIns="0" rtlCol="0" anchor="ctr"/>
          <a:lstStyle/>
          <a:p>
            <a:pPr algn="ctr" indent="0" marL="0">
              <a:buNone/>
            </a:pPr>
            <a:r>
              <a:rPr lang="en-US" sz="2400" b="1" dirty="0">
                <a:solidFill>
                  <a:srgbClr val="02C39A"/>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9134856" y="2651760"/>
            <a:ext cx="2514600" cy="1737360"/>
          </a:xfrm>
          <a:prstGeom prst="roundRect">
            <a:avLst>
              <a:gd name="adj" fmla="val 6316"/>
            </a:avLst>
          </a:prstGeom>
          <a:solidFill>
            <a:srgbClr val="0F3742"/>
          </a:solidFill>
          <a:ln w="25400">
            <a:solidFill>
              <a:srgbClr val="3E7C86"/>
            </a:solidFill>
            <a:prstDash val="solid"/>
          </a:ln>
        </p:spPr>
      </p:sp>
      <p:sp>
        <p:nvSpPr>
          <p:cNvPr id="17" name="Text 15"/>
          <p:cNvSpPr txBox="1"/>
          <p:nvPr/>
        </p:nvSpPr>
        <p:spPr>
          <a:xfrm>
            <a:off x="9134856" y="2907792"/>
            <a:ext cx="2514600" cy="457200"/>
          </a:xfrm>
          <a:prstGeom prst="rect">
            <a:avLst/>
          </a:prstGeom>
          <a:noFill/>
          <a:ln/>
        </p:spPr>
        <p:txBody>
          <a:bodyPr wrap="square" lIns="0" tIns="0" rIns="0" bIns="0" rtlCol="0" anchor="ctr"/>
          <a:lstStyle/>
          <a:p>
            <a:pPr algn="ctr" indent="0" marL="0">
              <a:buNone/>
            </a:pPr>
            <a:r>
              <a:rPr lang="en-US" sz="1900" b="1" dirty="0">
                <a:solidFill>
                  <a:srgbClr val="3E7C86"/>
                </a:solidFill>
                <a:latin typeface="Cambria" pitchFamily="34" charset="0"/>
                <a:ea typeface="Cambria" pitchFamily="34" charset="-122"/>
                <a:cs typeface="Cambria" pitchFamily="34" charset="-120"/>
              </a:rPr>
              <a:t>Ethereum</a:t>
            </a:r>
            <a:endParaRPr lang="en-US" sz="1900" dirty="0"/>
          </a:p>
        </p:txBody>
      </p:sp>
      <p:sp>
        <p:nvSpPr>
          <p:cNvPr id="18" name="Text 16"/>
          <p:cNvSpPr txBox="1"/>
          <p:nvPr/>
        </p:nvSpPr>
        <p:spPr>
          <a:xfrm>
            <a:off x="9226296" y="3429000"/>
            <a:ext cx="2331720" cy="822960"/>
          </a:xfrm>
          <a:prstGeom prst="rect">
            <a:avLst/>
          </a:prstGeom>
          <a:noFill/>
          <a:ln/>
        </p:spPr>
        <p:txBody>
          <a:bodyPr wrap="square" lIns="0" tIns="0" rIns="0" bIns="0" rtlCol="0" anchor="ctr"/>
          <a:lstStyle/>
          <a:p>
            <a:pPr algn="ctr" indent="0" marL="0">
              <a:buNone/>
            </a:pPr>
            <a:r>
              <a:rPr lang="en-US" sz="1250" dirty="0">
                <a:solidFill>
                  <a:srgbClr val="CFE0E0"/>
                </a:solidFill>
                <a:latin typeface="Calibri" pitchFamily="34" charset="0"/>
                <a:ea typeface="Calibri" pitchFamily="34" charset="-122"/>
                <a:cs typeface="Calibri" pitchFamily="34" charset="-120"/>
              </a:rPr>
              <a:t>Hardhat local chain</a:t>
            </a:r>
            <a:endParaRPr lang="en-US" sz="1250" dirty="0"/>
          </a:p>
          <a:p>
            <a:pPr algn="ctr" indent="0" marL="0">
              <a:buNone/>
            </a:pPr>
            <a:r>
              <a:rPr lang="en-US" sz="1250" dirty="0">
                <a:solidFill>
                  <a:srgbClr val="CFE0E0"/>
                </a:solidFill>
                <a:latin typeface="Calibri" pitchFamily="34" charset="0"/>
                <a:ea typeface="Calibri" pitchFamily="34" charset="-122"/>
                <a:cs typeface="Calibri" pitchFamily="34" charset="-120"/>
              </a:rPr>
              <a:t>chainId 31337</a:t>
            </a:r>
            <a:endParaRPr lang="en-US" sz="1250" dirty="0"/>
          </a:p>
        </p:txBody>
      </p:sp>
      <p:sp>
        <p:nvSpPr>
          <p:cNvPr id="19" name="Text 17"/>
          <p:cNvSpPr txBox="1"/>
          <p:nvPr/>
        </p:nvSpPr>
        <p:spPr>
          <a:xfrm>
            <a:off x="548640" y="5120640"/>
            <a:ext cx="11094415" cy="548640"/>
          </a:xfrm>
          <a:prstGeom prst="rect">
            <a:avLst/>
          </a:prstGeom>
          <a:noFill/>
          <a:ln/>
        </p:spPr>
        <p:txBody>
          <a:bodyPr wrap="square" lIns="0" tIns="0" rIns="0" bIns="0" rtlCol="0" anchor="ctr"/>
          <a:lstStyle/>
          <a:p>
            <a:pPr algn="ctr" indent="0" marL="0">
              <a:buNone/>
            </a:pPr>
            <a:r>
              <a:rPr lang="en-US" sz="1500" i="1" dirty="0">
                <a:solidFill>
                  <a:srgbClr val="9FBDBD"/>
                </a:solidFill>
                <a:latin typeface="Calibri" pitchFamily="34" charset="0"/>
                <a:ea typeface="Calibri" pitchFamily="34" charset="-122"/>
                <a:cs typeface="Calibri" pitchFamily="34" charset="-120"/>
              </a:rPr>
              <a:t>Every button in the UI becomes a signed transaction — the contract enforces the rules, the chain stores the proof.</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6F7"/>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300" kern="0" dirty="0">
                <a:solidFill>
                  <a:srgbClr val="028090"/>
                </a:solidFill>
                <a:latin typeface="Calibri" pitchFamily="34" charset="0"/>
                <a:ea typeface="Calibri" pitchFamily="34" charset="-122"/>
                <a:cs typeface="Calibri" pitchFamily="34" charset="-120"/>
              </a:rPr>
              <a:t>LIVE DEMO &amp; RESULTS</a:t>
            </a:r>
            <a:endParaRPr lang="en-US" sz="1200" dirty="0"/>
          </a:p>
        </p:txBody>
      </p:sp>
      <p:sp>
        <p:nvSpPr>
          <p:cNvPr id="3" name="Text 1"/>
          <p:cNvSpPr txBox="1"/>
          <p:nvPr/>
        </p:nvSpPr>
        <p:spPr>
          <a:xfrm>
            <a:off x="548640" y="713232"/>
            <a:ext cx="11094415" cy="731520"/>
          </a:xfrm>
          <a:prstGeom prst="rect">
            <a:avLst/>
          </a:prstGeom>
          <a:noFill/>
          <a:ln/>
        </p:spPr>
        <p:txBody>
          <a:bodyPr wrap="square" lIns="0" tIns="0" rIns="0" bIns="0" rtlCol="0" anchor="ctr"/>
          <a:lstStyle/>
          <a:p>
            <a:pPr indent="0" marL="0">
              <a:buNone/>
            </a:pPr>
            <a:r>
              <a:rPr lang="en-US" sz="3400" b="1" dirty="0">
                <a:solidFill>
                  <a:srgbClr val="17323B"/>
                </a:solidFill>
                <a:latin typeface="Cambria" pitchFamily="34" charset="0"/>
                <a:ea typeface="Cambria" pitchFamily="34" charset="-122"/>
                <a:cs typeface="Cambria" pitchFamily="34" charset="-120"/>
              </a:rPr>
              <a:t>It runs, and it's tested</a:t>
            </a:r>
            <a:endParaRPr lang="en-US" sz="3400" dirty="0"/>
          </a:p>
        </p:txBody>
      </p:sp>
      <p:sp>
        <p:nvSpPr>
          <p:cNvPr id="4" name="Shape 2"/>
          <p:cNvSpPr/>
          <p:nvPr/>
        </p:nvSpPr>
        <p:spPr>
          <a:xfrm>
            <a:off x="548640" y="1737360"/>
            <a:ext cx="6035040" cy="4480560"/>
          </a:xfrm>
          <a:prstGeom prst="roundRect">
            <a:avLst>
              <a:gd name="adj" fmla="val 2449"/>
            </a:avLst>
          </a:prstGeom>
          <a:solidFill>
            <a:srgbClr val="FFFFFF"/>
          </a:solidFill>
          <a:ln w="12700">
            <a:solidFill>
              <a:srgbClr val="DCE6E8"/>
            </a:solidFill>
            <a:prstDash val="solid"/>
          </a:ln>
          <a:effectLst>
            <a:outerShdw sx="100000" sy="100000" kx="0" ky="0" algn="bl" rotWithShape="0" blurRad="114300" dist="38100" dir="5400000">
              <a:srgbClr val="0C2A33">
                <a:alpha val="16000"/>
              </a:srgbClr>
            </a:outerShdw>
          </a:effectLst>
        </p:spPr>
      </p:sp>
      <p:sp>
        <p:nvSpPr>
          <p:cNvPr id="5" name="Text 3"/>
          <p:cNvSpPr txBox="1"/>
          <p:nvPr/>
        </p:nvSpPr>
        <p:spPr>
          <a:xfrm>
            <a:off x="868680" y="1965960"/>
            <a:ext cx="5486400" cy="365760"/>
          </a:xfrm>
          <a:prstGeom prst="rect">
            <a:avLst/>
          </a:prstGeom>
          <a:noFill/>
          <a:ln/>
        </p:spPr>
        <p:txBody>
          <a:bodyPr wrap="square" lIns="0" tIns="0" rIns="0" bIns="0" rtlCol="0" anchor="ctr"/>
          <a:lstStyle/>
          <a:p>
            <a:pPr indent="0" marL="0">
              <a:buNone/>
            </a:pPr>
            <a:r>
              <a:rPr lang="en-US" sz="1700" b="1" dirty="0">
                <a:solidFill>
                  <a:srgbClr val="028090"/>
                </a:solidFill>
                <a:latin typeface="Cambria" pitchFamily="34" charset="0"/>
                <a:ea typeface="Cambria" pitchFamily="34" charset="-122"/>
                <a:cs typeface="Cambria" pitchFamily="34" charset="-120"/>
              </a:rPr>
              <a:t>Live demo flow</a:t>
            </a:r>
            <a:endParaRPr lang="en-US" sz="1700" dirty="0"/>
          </a:p>
        </p:txBody>
      </p:sp>
      <p:sp>
        <p:nvSpPr>
          <p:cNvPr id="6" name="Shape 4"/>
          <p:cNvSpPr/>
          <p:nvPr/>
        </p:nvSpPr>
        <p:spPr>
          <a:xfrm>
            <a:off x="868680" y="2423160"/>
            <a:ext cx="384048" cy="384048"/>
          </a:xfrm>
          <a:prstGeom prst="ellipse">
            <a:avLst/>
          </a:prstGeom>
          <a:solidFill>
            <a:srgbClr val="028090"/>
          </a:solidFill>
          <a:ln/>
        </p:spPr>
      </p:sp>
      <p:sp>
        <p:nvSpPr>
          <p:cNvPr id="7" name="Text 5"/>
          <p:cNvSpPr txBox="1"/>
          <p:nvPr/>
        </p:nvSpPr>
        <p:spPr>
          <a:xfrm>
            <a:off x="868680" y="24231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txBox="1"/>
          <p:nvPr/>
        </p:nvSpPr>
        <p:spPr>
          <a:xfrm>
            <a:off x="1417320" y="2377440"/>
            <a:ext cx="5029200" cy="502920"/>
          </a:xfrm>
          <a:prstGeom prst="rect">
            <a:avLst/>
          </a:prstGeom>
          <a:noFill/>
          <a:ln/>
        </p:spPr>
        <p:txBody>
          <a:bodyPr wrap="square" lIns="0" tIns="0" rIns="0" bIns="0" rtlCol="0" anchor="ctr"/>
          <a:lstStyle/>
          <a:p>
            <a:pPr indent="0" marL="0">
              <a:buNone/>
            </a:pPr>
            <a:r>
              <a:rPr lang="en-US" sz="1350" dirty="0">
                <a:solidFill>
                  <a:srgbClr val="17323B"/>
                </a:solidFill>
                <a:latin typeface="Calibri" pitchFamily="34" charset="0"/>
                <a:ea typeface="Calibri" pitchFamily="34" charset="-122"/>
                <a:cs typeface="Calibri" pitchFamily="34" charset="-120"/>
              </a:rPr>
              <a:t>Admin registers two students &amp; opens a session</a:t>
            </a:r>
            <a:endParaRPr lang="en-US" sz="1350" dirty="0"/>
          </a:p>
        </p:txBody>
      </p:sp>
      <p:sp>
        <p:nvSpPr>
          <p:cNvPr id="9" name="Shape 7"/>
          <p:cNvSpPr/>
          <p:nvPr/>
        </p:nvSpPr>
        <p:spPr>
          <a:xfrm>
            <a:off x="868680" y="3026664"/>
            <a:ext cx="384048" cy="384048"/>
          </a:xfrm>
          <a:prstGeom prst="ellipse">
            <a:avLst/>
          </a:prstGeom>
          <a:solidFill>
            <a:srgbClr val="028090"/>
          </a:solidFill>
          <a:ln/>
        </p:spPr>
      </p:sp>
      <p:sp>
        <p:nvSpPr>
          <p:cNvPr id="10" name="Text 8"/>
          <p:cNvSpPr txBox="1"/>
          <p:nvPr/>
        </p:nvSpPr>
        <p:spPr>
          <a:xfrm>
            <a:off x="868680" y="30266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9"/>
          <p:cNvSpPr txBox="1"/>
          <p:nvPr/>
        </p:nvSpPr>
        <p:spPr>
          <a:xfrm>
            <a:off x="1417320" y="2980944"/>
            <a:ext cx="5029200" cy="502920"/>
          </a:xfrm>
          <a:prstGeom prst="rect">
            <a:avLst/>
          </a:prstGeom>
          <a:noFill/>
          <a:ln/>
        </p:spPr>
        <p:txBody>
          <a:bodyPr wrap="square" lIns="0" tIns="0" rIns="0" bIns="0" rtlCol="0" anchor="ctr"/>
          <a:lstStyle/>
          <a:p>
            <a:pPr indent="0" marL="0">
              <a:buNone/>
            </a:pPr>
            <a:r>
              <a:rPr lang="en-US" sz="1350" dirty="0">
                <a:solidFill>
                  <a:srgbClr val="17323B"/>
                </a:solidFill>
                <a:latin typeface="Calibri" pitchFamily="34" charset="0"/>
                <a:ea typeface="Calibri" pitchFamily="34" charset="-122"/>
                <a:cs typeface="Calibri" pitchFamily="34" charset="-120"/>
              </a:rPr>
              <a:t>A registered student marks present  ✓</a:t>
            </a:r>
            <a:endParaRPr lang="en-US" sz="1350" dirty="0"/>
          </a:p>
        </p:txBody>
      </p:sp>
      <p:sp>
        <p:nvSpPr>
          <p:cNvPr id="12" name="Shape 10"/>
          <p:cNvSpPr/>
          <p:nvPr/>
        </p:nvSpPr>
        <p:spPr>
          <a:xfrm>
            <a:off x="868680" y="3630168"/>
            <a:ext cx="384048" cy="384048"/>
          </a:xfrm>
          <a:prstGeom prst="ellipse">
            <a:avLst/>
          </a:prstGeom>
          <a:solidFill>
            <a:srgbClr val="028090"/>
          </a:solidFill>
          <a:ln/>
        </p:spPr>
      </p:sp>
      <p:sp>
        <p:nvSpPr>
          <p:cNvPr id="13" name="Text 11"/>
          <p:cNvSpPr txBox="1"/>
          <p:nvPr/>
        </p:nvSpPr>
        <p:spPr>
          <a:xfrm>
            <a:off x="868680" y="36301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1417320" y="3584448"/>
            <a:ext cx="5029200" cy="502920"/>
          </a:xfrm>
          <a:prstGeom prst="rect">
            <a:avLst/>
          </a:prstGeom>
          <a:noFill/>
          <a:ln/>
        </p:spPr>
        <p:txBody>
          <a:bodyPr wrap="square" lIns="0" tIns="0" rIns="0" bIns="0" rtlCol="0" anchor="ctr"/>
          <a:lstStyle/>
          <a:p>
            <a:pPr indent="0" marL="0">
              <a:buNone/>
            </a:pPr>
            <a:r>
              <a:rPr lang="en-US" sz="1350" dirty="0">
                <a:solidFill>
                  <a:srgbClr val="17323B"/>
                </a:solidFill>
                <a:latin typeface="Calibri" pitchFamily="34" charset="0"/>
                <a:ea typeface="Calibri" pitchFamily="34" charset="-122"/>
                <a:cs typeface="Calibri" pitchFamily="34" charset="-120"/>
              </a:rPr>
              <a:t>Same student marks again  →  “Already marked”</a:t>
            </a:r>
            <a:endParaRPr lang="en-US" sz="1350" dirty="0"/>
          </a:p>
        </p:txBody>
      </p:sp>
      <p:sp>
        <p:nvSpPr>
          <p:cNvPr id="15" name="Shape 13"/>
          <p:cNvSpPr/>
          <p:nvPr/>
        </p:nvSpPr>
        <p:spPr>
          <a:xfrm>
            <a:off x="868680" y="4233672"/>
            <a:ext cx="384048" cy="384048"/>
          </a:xfrm>
          <a:prstGeom prst="ellipse">
            <a:avLst/>
          </a:prstGeom>
          <a:solidFill>
            <a:srgbClr val="E4572E"/>
          </a:solidFill>
          <a:ln/>
        </p:spPr>
      </p:sp>
      <p:sp>
        <p:nvSpPr>
          <p:cNvPr id="16" name="Text 14"/>
          <p:cNvSpPr txBox="1"/>
          <p:nvPr/>
        </p:nvSpPr>
        <p:spPr>
          <a:xfrm>
            <a:off x="868680" y="42336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7" name="Text 15"/>
          <p:cNvSpPr txBox="1"/>
          <p:nvPr/>
        </p:nvSpPr>
        <p:spPr>
          <a:xfrm>
            <a:off x="1417320" y="4187952"/>
            <a:ext cx="5029200" cy="502920"/>
          </a:xfrm>
          <a:prstGeom prst="rect">
            <a:avLst/>
          </a:prstGeom>
          <a:noFill/>
          <a:ln/>
        </p:spPr>
        <p:txBody>
          <a:bodyPr wrap="square" lIns="0" tIns="0" rIns="0" bIns="0" rtlCol="0" anchor="ctr"/>
          <a:lstStyle/>
          <a:p>
            <a:pPr indent="0" marL="0">
              <a:buNone/>
            </a:pPr>
            <a:r>
              <a:rPr lang="en-US" sz="1350" dirty="0">
                <a:solidFill>
                  <a:srgbClr val="17323B"/>
                </a:solidFill>
                <a:latin typeface="Calibri" pitchFamily="34" charset="0"/>
                <a:ea typeface="Calibri" pitchFamily="34" charset="-122"/>
                <a:cs typeface="Calibri" pitchFamily="34" charset="-120"/>
              </a:rPr>
              <a:t>Unregistered account tries  →  rejected (anti-proxy)</a:t>
            </a:r>
            <a:endParaRPr lang="en-US" sz="1350" dirty="0"/>
          </a:p>
        </p:txBody>
      </p:sp>
      <p:sp>
        <p:nvSpPr>
          <p:cNvPr id="18" name="Shape 16"/>
          <p:cNvSpPr/>
          <p:nvPr/>
        </p:nvSpPr>
        <p:spPr>
          <a:xfrm>
            <a:off x="868680" y="4837176"/>
            <a:ext cx="384048" cy="384048"/>
          </a:xfrm>
          <a:prstGeom prst="ellipse">
            <a:avLst/>
          </a:prstGeom>
          <a:solidFill>
            <a:srgbClr val="028090"/>
          </a:solidFill>
          <a:ln/>
        </p:spPr>
      </p:sp>
      <p:sp>
        <p:nvSpPr>
          <p:cNvPr id="19" name="Text 17"/>
          <p:cNvSpPr txBox="1"/>
          <p:nvPr/>
        </p:nvSpPr>
        <p:spPr>
          <a:xfrm>
            <a:off x="868680" y="48371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0" name="Text 18"/>
          <p:cNvSpPr txBox="1"/>
          <p:nvPr/>
        </p:nvSpPr>
        <p:spPr>
          <a:xfrm>
            <a:off x="1417320" y="4791456"/>
            <a:ext cx="5029200" cy="502920"/>
          </a:xfrm>
          <a:prstGeom prst="rect">
            <a:avLst/>
          </a:prstGeom>
          <a:noFill/>
          <a:ln/>
        </p:spPr>
        <p:txBody>
          <a:bodyPr wrap="square" lIns="0" tIns="0" rIns="0" bIns="0" rtlCol="0" anchor="ctr"/>
          <a:lstStyle/>
          <a:p>
            <a:pPr indent="0" marL="0">
              <a:buNone/>
            </a:pPr>
            <a:r>
              <a:rPr lang="en-US" sz="1350" dirty="0">
                <a:solidFill>
                  <a:srgbClr val="17323B"/>
                </a:solidFill>
                <a:latin typeface="Calibri" pitchFamily="34" charset="0"/>
                <a:ea typeface="Calibri" pitchFamily="34" charset="-122"/>
                <a:cs typeface="Calibri" pitchFamily="34" charset="-120"/>
              </a:rPr>
              <a:t>Teacher closes session  →  no more marking</a:t>
            </a:r>
            <a:endParaRPr lang="en-US" sz="1350" dirty="0"/>
          </a:p>
        </p:txBody>
      </p:sp>
      <p:sp>
        <p:nvSpPr>
          <p:cNvPr id="21" name="Shape 19"/>
          <p:cNvSpPr/>
          <p:nvPr/>
        </p:nvSpPr>
        <p:spPr>
          <a:xfrm>
            <a:off x="868680" y="5440680"/>
            <a:ext cx="384048" cy="384048"/>
          </a:xfrm>
          <a:prstGeom prst="ellipse">
            <a:avLst/>
          </a:prstGeom>
          <a:solidFill>
            <a:srgbClr val="028090"/>
          </a:solidFill>
          <a:ln/>
        </p:spPr>
      </p:sp>
      <p:sp>
        <p:nvSpPr>
          <p:cNvPr id="22" name="Text 20"/>
          <p:cNvSpPr txBox="1"/>
          <p:nvPr/>
        </p:nvSpPr>
        <p:spPr>
          <a:xfrm>
            <a:off x="868680" y="54406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3" name="Text 21"/>
          <p:cNvSpPr txBox="1"/>
          <p:nvPr/>
        </p:nvSpPr>
        <p:spPr>
          <a:xfrm>
            <a:off x="1417320" y="5394960"/>
            <a:ext cx="5029200" cy="502920"/>
          </a:xfrm>
          <a:prstGeom prst="rect">
            <a:avLst/>
          </a:prstGeom>
          <a:noFill/>
          <a:ln/>
        </p:spPr>
        <p:txBody>
          <a:bodyPr wrap="square" lIns="0" tIns="0" rIns="0" bIns="0" rtlCol="0" anchor="ctr"/>
          <a:lstStyle/>
          <a:p>
            <a:pPr indent="0" marL="0">
              <a:buNone/>
            </a:pPr>
            <a:r>
              <a:rPr lang="en-US" sz="1350" dirty="0">
                <a:solidFill>
                  <a:srgbClr val="17323B"/>
                </a:solidFill>
                <a:latin typeface="Calibri" pitchFamily="34" charset="0"/>
                <a:ea typeface="Calibri" pitchFamily="34" charset="-122"/>
                <a:cs typeface="Calibri" pitchFamily="34" charset="-120"/>
              </a:rPr>
              <a:t>Anyone loads the tamper-proof attendee list</a:t>
            </a:r>
            <a:endParaRPr lang="en-US" sz="1350" dirty="0"/>
          </a:p>
        </p:txBody>
      </p:sp>
      <p:sp>
        <p:nvSpPr>
          <p:cNvPr id="24" name="Shape 22"/>
          <p:cNvSpPr/>
          <p:nvPr/>
        </p:nvSpPr>
        <p:spPr>
          <a:xfrm>
            <a:off x="6858000" y="1737360"/>
            <a:ext cx="4754880" cy="4480560"/>
          </a:xfrm>
          <a:prstGeom prst="roundRect">
            <a:avLst>
              <a:gd name="adj" fmla="val 2449"/>
            </a:avLst>
          </a:prstGeom>
          <a:solidFill>
            <a:srgbClr val="0C2A33"/>
          </a:solidFill>
          <a:ln w="12700">
            <a:solidFill>
              <a:srgbClr val="DCE6E8"/>
            </a:solidFill>
            <a:prstDash val="solid"/>
          </a:ln>
          <a:effectLst>
            <a:outerShdw sx="100000" sy="100000" kx="0" ky="0" algn="bl" rotWithShape="0" blurRad="114300" dist="38100" dir="5400000">
              <a:srgbClr val="0C2A33">
                <a:alpha val="16000"/>
              </a:srgbClr>
            </a:outerShdw>
          </a:effectLst>
        </p:spPr>
      </p:sp>
      <p:sp>
        <p:nvSpPr>
          <p:cNvPr id="25" name="Text 23"/>
          <p:cNvSpPr txBox="1"/>
          <p:nvPr/>
        </p:nvSpPr>
        <p:spPr>
          <a:xfrm>
            <a:off x="6858000" y="2194560"/>
            <a:ext cx="4754880" cy="1005840"/>
          </a:xfrm>
          <a:prstGeom prst="rect">
            <a:avLst/>
          </a:prstGeom>
          <a:noFill/>
          <a:ln/>
        </p:spPr>
        <p:txBody>
          <a:bodyPr wrap="square" lIns="0" tIns="0" rIns="0" bIns="0" rtlCol="0" anchor="ctr"/>
          <a:lstStyle/>
          <a:p>
            <a:pPr algn="ctr" indent="0" marL="0">
              <a:buNone/>
            </a:pPr>
            <a:r>
              <a:rPr lang="en-US" sz="6600" b="1" dirty="0">
                <a:solidFill>
                  <a:srgbClr val="02C39A"/>
                </a:solidFill>
                <a:latin typeface="Cambria" pitchFamily="34" charset="0"/>
                <a:ea typeface="Cambria" pitchFamily="34" charset="-122"/>
                <a:cs typeface="Cambria" pitchFamily="34" charset="-120"/>
              </a:rPr>
              <a:t>15 / 15</a:t>
            </a:r>
            <a:endParaRPr lang="en-US" sz="6600" dirty="0"/>
          </a:p>
        </p:txBody>
      </p:sp>
      <p:sp>
        <p:nvSpPr>
          <p:cNvPr id="26" name="Text 24"/>
          <p:cNvSpPr txBox="1"/>
          <p:nvPr/>
        </p:nvSpPr>
        <p:spPr>
          <a:xfrm>
            <a:off x="6858000" y="3200400"/>
            <a:ext cx="4754880" cy="365760"/>
          </a:xfrm>
          <a:prstGeom prst="rect">
            <a:avLst/>
          </a:prstGeom>
          <a:noFill/>
          <a:ln/>
        </p:spPr>
        <p:txBody>
          <a:bodyPr wrap="square" lIns="0" tIns="0" rIns="0" bIns="0" rtlCol="0" anchor="ctr"/>
          <a:lstStyle/>
          <a:p>
            <a:pPr algn="ctr" indent="0" marL="0">
              <a:buNone/>
            </a:pPr>
            <a:r>
              <a:rPr lang="en-US" sz="1500" dirty="0">
                <a:solidFill>
                  <a:srgbClr val="BFD6D6"/>
                </a:solidFill>
                <a:latin typeface="Calibri" pitchFamily="34" charset="0"/>
                <a:ea typeface="Calibri" pitchFamily="34" charset="-122"/>
                <a:cs typeface="Calibri" pitchFamily="34" charset="-120"/>
              </a:rPr>
              <a:t>automated tests passing</a:t>
            </a:r>
            <a:endParaRPr lang="en-US" sz="1500" dirty="0"/>
          </a:p>
        </p:txBody>
      </p:sp>
      <p:sp>
        <p:nvSpPr>
          <p:cNvPr id="27" name="Text 25"/>
          <p:cNvSpPr txBox="1"/>
          <p:nvPr/>
        </p:nvSpPr>
        <p:spPr>
          <a:xfrm>
            <a:off x="7178040" y="3794760"/>
            <a:ext cx="4206240" cy="457200"/>
          </a:xfrm>
          <a:prstGeom prst="rect">
            <a:avLst/>
          </a:prstGeom>
          <a:noFill/>
          <a:ln/>
        </p:spPr>
        <p:txBody>
          <a:bodyPr wrap="square" lIns="0" tIns="0" rIns="0" bIns="0" rtlCol="0" anchor="ctr"/>
          <a:lstStyle/>
          <a:p>
            <a:pPr indent="0" marL="0">
              <a:buNone/>
            </a:pPr>
            <a:r>
              <a:rPr lang="en-US" sz="1400" b="1" dirty="0">
                <a:solidFill>
                  <a:srgbClr val="02C39A"/>
                </a:solidFill>
                <a:latin typeface="Calibri" pitchFamily="34" charset="0"/>
                <a:ea typeface="Calibri" pitchFamily="34" charset="-122"/>
                <a:cs typeface="Calibri" pitchFamily="34" charset="-120"/>
              </a:rPr>
              <a:t>✓  </a:t>
            </a:r>
            <a:pPr indent="0" marL="0">
              <a:buNone/>
            </a:pPr>
            <a:r>
              <a:rPr lang="en-US" sz="1400" dirty="0">
                <a:solidFill>
                  <a:srgbClr val="FFFFFF"/>
                </a:solidFill>
                <a:latin typeface="Calibri" pitchFamily="34" charset="0"/>
                <a:ea typeface="Calibri" pitchFamily="34" charset="-122"/>
                <a:cs typeface="Calibri" pitchFamily="34" charset="-120"/>
              </a:rPr>
              <a:t>Prevents proxy attendance</a:t>
            </a:r>
            <a:endParaRPr lang="en-US" sz="1400" dirty="0"/>
          </a:p>
        </p:txBody>
      </p:sp>
      <p:sp>
        <p:nvSpPr>
          <p:cNvPr id="28" name="Text 26"/>
          <p:cNvSpPr txBox="1"/>
          <p:nvPr/>
        </p:nvSpPr>
        <p:spPr>
          <a:xfrm>
            <a:off x="7178040" y="4343400"/>
            <a:ext cx="4206240" cy="457200"/>
          </a:xfrm>
          <a:prstGeom prst="rect">
            <a:avLst/>
          </a:prstGeom>
          <a:noFill/>
          <a:ln/>
        </p:spPr>
        <p:txBody>
          <a:bodyPr wrap="square" lIns="0" tIns="0" rIns="0" bIns="0" rtlCol="0" anchor="ctr"/>
          <a:lstStyle/>
          <a:p>
            <a:pPr indent="0" marL="0">
              <a:buNone/>
            </a:pPr>
            <a:r>
              <a:rPr lang="en-US" sz="1400" b="1" dirty="0">
                <a:solidFill>
                  <a:srgbClr val="02C39A"/>
                </a:solidFill>
                <a:latin typeface="Calibri" pitchFamily="34" charset="0"/>
                <a:ea typeface="Calibri" pitchFamily="34" charset="-122"/>
                <a:cs typeface="Calibri" pitchFamily="34" charset="-120"/>
              </a:rPr>
              <a:t>✓  </a:t>
            </a:r>
            <a:pPr indent="0" marL="0">
              <a:buNone/>
            </a:pPr>
            <a:r>
              <a:rPr lang="en-US" sz="1400" dirty="0">
                <a:solidFill>
                  <a:srgbClr val="FFFFFF"/>
                </a:solidFill>
                <a:latin typeface="Calibri" pitchFamily="34" charset="0"/>
                <a:ea typeface="Calibri" pitchFamily="34" charset="-122"/>
                <a:cs typeface="Calibri" pitchFamily="34" charset="-120"/>
              </a:rPr>
              <a:t>Prevents double marking</a:t>
            </a:r>
            <a:endParaRPr lang="en-US" sz="1400" dirty="0"/>
          </a:p>
        </p:txBody>
      </p:sp>
      <p:sp>
        <p:nvSpPr>
          <p:cNvPr id="29" name="Text 27"/>
          <p:cNvSpPr txBox="1"/>
          <p:nvPr/>
        </p:nvSpPr>
        <p:spPr>
          <a:xfrm>
            <a:off x="7178040" y="4892040"/>
            <a:ext cx="4206240" cy="457200"/>
          </a:xfrm>
          <a:prstGeom prst="rect">
            <a:avLst/>
          </a:prstGeom>
          <a:noFill/>
          <a:ln/>
        </p:spPr>
        <p:txBody>
          <a:bodyPr wrap="square" lIns="0" tIns="0" rIns="0" bIns="0" rtlCol="0" anchor="ctr"/>
          <a:lstStyle/>
          <a:p>
            <a:pPr indent="0" marL="0">
              <a:buNone/>
            </a:pPr>
            <a:r>
              <a:rPr lang="en-US" sz="1400" b="1" dirty="0">
                <a:solidFill>
                  <a:srgbClr val="02C39A"/>
                </a:solidFill>
                <a:latin typeface="Calibri" pitchFamily="34" charset="0"/>
                <a:ea typeface="Calibri" pitchFamily="34" charset="-122"/>
                <a:cs typeface="Calibri" pitchFamily="34" charset="-120"/>
              </a:rPr>
              <a:t>✓  </a:t>
            </a:r>
            <a:pPr indent="0" marL="0">
              <a:buNone/>
            </a:pPr>
            <a:r>
              <a:rPr lang="en-US" sz="1400" dirty="0">
                <a:solidFill>
                  <a:srgbClr val="FFFFFF"/>
                </a:solidFill>
                <a:latin typeface="Calibri" pitchFamily="34" charset="0"/>
                <a:ea typeface="Calibri" pitchFamily="34" charset="-122"/>
                <a:cs typeface="Calibri" pitchFamily="34" charset="-120"/>
              </a:rPr>
              <a:t>Blocks back-dating</a:t>
            </a:r>
            <a:endParaRPr lang="en-US" sz="1400" dirty="0"/>
          </a:p>
        </p:txBody>
      </p:sp>
      <p:sp>
        <p:nvSpPr>
          <p:cNvPr id="30" name="Text 28"/>
          <p:cNvSpPr txBox="1"/>
          <p:nvPr/>
        </p:nvSpPr>
        <p:spPr>
          <a:xfrm>
            <a:off x="7178040" y="5440680"/>
            <a:ext cx="4206240" cy="457200"/>
          </a:xfrm>
          <a:prstGeom prst="rect">
            <a:avLst/>
          </a:prstGeom>
          <a:noFill/>
          <a:ln/>
        </p:spPr>
        <p:txBody>
          <a:bodyPr wrap="square" lIns="0" tIns="0" rIns="0" bIns="0" rtlCol="0" anchor="ctr"/>
          <a:lstStyle/>
          <a:p>
            <a:pPr indent="0" marL="0">
              <a:buNone/>
            </a:pPr>
            <a:r>
              <a:rPr lang="en-US" sz="1400" b="1" dirty="0">
                <a:solidFill>
                  <a:srgbClr val="02C39A"/>
                </a:solidFill>
                <a:latin typeface="Calibri" pitchFamily="34" charset="0"/>
                <a:ea typeface="Calibri" pitchFamily="34" charset="-122"/>
                <a:cs typeface="Calibri" pitchFamily="34" charset="-120"/>
              </a:rPr>
              <a:t>✓  </a:t>
            </a:r>
            <a:pPr indent="0" marL="0">
              <a:buNone/>
            </a:pPr>
            <a:r>
              <a:rPr lang="en-US" sz="1400" dirty="0">
                <a:solidFill>
                  <a:srgbClr val="FFFFFF"/>
                </a:solidFill>
                <a:latin typeface="Calibri" pitchFamily="34" charset="0"/>
                <a:ea typeface="Calibri" pitchFamily="34" charset="-122"/>
                <a:cs typeface="Calibri" pitchFamily="34" charset="-120"/>
              </a:rPr>
              <a:t>Enforces roles &amp; registration</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2A33"/>
        </a:solidFill>
      </p:bgPr>
    </p:bg>
    <p:spTree>
      <p:nvGrpSpPr>
        <p:cNvPr id="1" name=""/>
        <p:cNvGrpSpPr/>
        <p:nvPr/>
      </p:nvGrpSpPr>
      <p:grpSpPr>
        <a:xfrm>
          <a:off x="0" y="0"/>
          <a:ext cx="0" cy="0"/>
          <a:chOff x="0" y="0"/>
          <a:chExt cx="0" cy="0"/>
        </a:xfrm>
      </p:grpSpPr>
      <p:sp>
        <p:nvSpPr>
          <p:cNvPr id="2" name="Shape 0"/>
          <p:cNvSpPr/>
          <p:nvPr/>
        </p:nvSpPr>
        <p:spPr>
          <a:xfrm>
            <a:off x="457200" y="5669280"/>
            <a:ext cx="822960" cy="822960"/>
          </a:xfrm>
          <a:prstGeom prst="ellipse">
            <a:avLst/>
          </a:prstGeom>
          <a:ln w="31750">
            <a:solidFill>
              <a:srgbClr val="028090">
                <a:alpha val="40000"/>
              </a:srgbClr>
            </a:solidFill>
            <a:prstDash val="solid"/>
          </a:ln>
        </p:spPr>
      </p:sp>
      <p:sp>
        <p:nvSpPr>
          <p:cNvPr id="3" name="Shape 1"/>
          <p:cNvSpPr/>
          <p:nvPr/>
        </p:nvSpPr>
        <p:spPr>
          <a:xfrm>
            <a:off x="1024128" y="5669280"/>
            <a:ext cx="822960" cy="822960"/>
          </a:xfrm>
          <a:prstGeom prst="ellipse">
            <a:avLst/>
          </a:prstGeom>
          <a:ln w="31750">
            <a:solidFill>
              <a:srgbClr val="028090">
                <a:alpha val="40000"/>
              </a:srgbClr>
            </a:solidFill>
            <a:prstDash val="solid"/>
          </a:ln>
        </p:spPr>
      </p:sp>
      <p:sp>
        <p:nvSpPr>
          <p:cNvPr id="4" name="Shape 2"/>
          <p:cNvSpPr/>
          <p:nvPr/>
        </p:nvSpPr>
        <p:spPr>
          <a:xfrm>
            <a:off x="1591056" y="5669280"/>
            <a:ext cx="822960" cy="822960"/>
          </a:xfrm>
          <a:prstGeom prst="ellipse">
            <a:avLst/>
          </a:prstGeom>
          <a:ln w="31750">
            <a:solidFill>
              <a:srgbClr val="028090">
                <a:alpha val="40000"/>
              </a:srgbClr>
            </a:solidFill>
            <a:prstDash val="solid"/>
          </a:ln>
        </p:spPr>
      </p:sp>
      <p:sp>
        <p:nvSpPr>
          <p:cNvPr id="5" name="Shape 3"/>
          <p:cNvSpPr/>
          <p:nvPr/>
        </p:nvSpPr>
        <p:spPr>
          <a:xfrm>
            <a:off x="2157984" y="5669280"/>
            <a:ext cx="822960" cy="822960"/>
          </a:xfrm>
          <a:prstGeom prst="ellipse">
            <a:avLst/>
          </a:prstGeom>
          <a:ln w="31750">
            <a:solidFill>
              <a:srgbClr val="028090">
                <a:alpha val="40000"/>
              </a:srgbClr>
            </a:solidFill>
            <a:prstDash val="solid"/>
          </a:ln>
        </p:spPr>
      </p:sp>
      <p:sp>
        <p:nvSpPr>
          <p:cNvPr id="6" name="Shape 4"/>
          <p:cNvSpPr/>
          <p:nvPr/>
        </p:nvSpPr>
        <p:spPr>
          <a:xfrm>
            <a:off x="2724912" y="5669280"/>
            <a:ext cx="822960" cy="822960"/>
          </a:xfrm>
          <a:prstGeom prst="ellipse">
            <a:avLst/>
          </a:prstGeom>
          <a:ln w="31750">
            <a:solidFill>
              <a:srgbClr val="028090">
                <a:alpha val="40000"/>
              </a:srgbClr>
            </a:solidFill>
            <a:prstDash val="solid"/>
          </a:ln>
        </p:spPr>
      </p:sp>
      <p:sp>
        <p:nvSpPr>
          <p:cNvPr id="7" name="Shape 5"/>
          <p:cNvSpPr/>
          <p:nvPr/>
        </p:nvSpPr>
        <p:spPr>
          <a:xfrm>
            <a:off x="3291840" y="5669280"/>
            <a:ext cx="822960" cy="822960"/>
          </a:xfrm>
          <a:prstGeom prst="ellipse">
            <a:avLst/>
          </a:prstGeom>
          <a:ln w="31750">
            <a:solidFill>
              <a:srgbClr val="028090">
                <a:alpha val="40000"/>
              </a:srgbClr>
            </a:solidFill>
            <a:prstDash val="solid"/>
          </a:ln>
        </p:spPr>
      </p:sp>
      <p:sp>
        <p:nvSpPr>
          <p:cNvPr id="8" name="Text 6"/>
          <p:cNvSpPr txBox="1"/>
          <p:nvPr/>
        </p:nvSpPr>
        <p:spPr>
          <a:xfrm>
            <a:off x="548640" y="1371600"/>
            <a:ext cx="7315200" cy="365760"/>
          </a:xfrm>
          <a:prstGeom prst="rect">
            <a:avLst/>
          </a:prstGeom>
          <a:noFill/>
          <a:ln/>
        </p:spPr>
        <p:txBody>
          <a:bodyPr wrap="square" lIns="0" tIns="0" rIns="0" bIns="0"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IN SUMMARY</a:t>
            </a:r>
            <a:endParaRPr lang="en-US" sz="1300" dirty="0"/>
          </a:p>
        </p:txBody>
      </p:sp>
      <p:sp>
        <p:nvSpPr>
          <p:cNvPr id="9" name="Text 7"/>
          <p:cNvSpPr txBox="1"/>
          <p:nvPr/>
        </p:nvSpPr>
        <p:spPr>
          <a:xfrm>
            <a:off x="548640" y="1828800"/>
            <a:ext cx="10515600" cy="173736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Trustless attendance,</a:t>
            </a:r>
            <a:endParaRPr lang="en-US" sz="4800" dirty="0"/>
          </a:p>
          <a:p>
            <a:pPr indent="0" marL="0">
              <a:buNone/>
            </a:pPr>
            <a:r>
              <a:rPr lang="en-US" sz="4800" b="1" dirty="0">
                <a:solidFill>
                  <a:srgbClr val="FFFFFF"/>
                </a:solidFill>
                <a:latin typeface="Cambria" pitchFamily="34" charset="0"/>
                <a:ea typeface="Cambria" pitchFamily="34" charset="-122"/>
                <a:cs typeface="Cambria" pitchFamily="34" charset="-120"/>
              </a:rPr>
              <a:t>by design.</a:t>
            </a:r>
            <a:endParaRPr lang="en-US" sz="4800" dirty="0"/>
          </a:p>
        </p:txBody>
      </p:sp>
      <p:sp>
        <p:nvSpPr>
          <p:cNvPr id="10" name="Text 8"/>
          <p:cNvSpPr txBox="1"/>
          <p:nvPr/>
        </p:nvSpPr>
        <p:spPr>
          <a:xfrm>
            <a:off x="548640" y="3794760"/>
            <a:ext cx="10515600" cy="502920"/>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  </a:t>
            </a:r>
            <a:pPr indent="0" marL="0">
              <a:buNone/>
            </a:pPr>
            <a:r>
              <a:rPr lang="en-US" sz="1600" dirty="0">
                <a:solidFill>
                  <a:srgbClr val="DCEBEB"/>
                </a:solidFill>
                <a:latin typeface="Calibri" pitchFamily="34" charset="0"/>
                <a:ea typeface="Calibri" pitchFamily="34" charset="-122"/>
                <a:cs typeface="Calibri" pitchFamily="34" charset="-120"/>
              </a:rPr>
              <a:t>Proxy, double-marking, back-dating and tampering — all prevented on-chain</a:t>
            </a:r>
            <a:endParaRPr lang="en-US" sz="1600" dirty="0"/>
          </a:p>
        </p:txBody>
      </p:sp>
      <p:sp>
        <p:nvSpPr>
          <p:cNvPr id="11" name="Text 9"/>
          <p:cNvSpPr txBox="1"/>
          <p:nvPr/>
        </p:nvSpPr>
        <p:spPr>
          <a:xfrm>
            <a:off x="548640" y="4361688"/>
            <a:ext cx="10515600" cy="502920"/>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  </a:t>
            </a:r>
            <a:pPr indent="0" marL="0">
              <a:buNone/>
            </a:pPr>
            <a:r>
              <a:rPr lang="en-US" sz="1600" dirty="0">
                <a:solidFill>
                  <a:srgbClr val="DCEBEB"/>
                </a:solidFill>
                <a:latin typeface="Calibri" pitchFamily="34" charset="0"/>
                <a:ea typeface="Calibri" pitchFamily="34" charset="-122"/>
                <a:cs typeface="Calibri" pitchFamily="34" charset="-120"/>
              </a:rPr>
              <a:t>No central authority to trust: the rules are the contract</a:t>
            </a:r>
            <a:endParaRPr lang="en-US" sz="1600" dirty="0"/>
          </a:p>
        </p:txBody>
      </p:sp>
      <p:sp>
        <p:nvSpPr>
          <p:cNvPr id="12" name="Text 10"/>
          <p:cNvSpPr txBox="1"/>
          <p:nvPr/>
        </p:nvSpPr>
        <p:spPr>
          <a:xfrm>
            <a:off x="548640" y="4928616"/>
            <a:ext cx="10515600" cy="502920"/>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  </a:t>
            </a:r>
            <a:pPr indent="0" marL="0">
              <a:buNone/>
            </a:pPr>
            <a:r>
              <a:rPr lang="en-US" sz="1600" dirty="0">
                <a:solidFill>
                  <a:srgbClr val="DCEBEB"/>
                </a:solidFill>
                <a:latin typeface="Calibri" pitchFamily="34" charset="0"/>
                <a:ea typeface="Calibri" pitchFamily="34" charset="-122"/>
                <a:cs typeface="Calibri" pitchFamily="34" charset="-120"/>
              </a:rPr>
              <a:t>Working end-to-end: Solidity contract, 15 passing tests, and a live web UI</a:t>
            </a:r>
            <a:endParaRPr lang="en-US" sz="1600" dirty="0"/>
          </a:p>
        </p:txBody>
      </p:sp>
      <p:sp>
        <p:nvSpPr>
          <p:cNvPr id="13" name="Text 11"/>
          <p:cNvSpPr txBox="1"/>
          <p:nvPr/>
        </p:nvSpPr>
        <p:spPr>
          <a:xfrm>
            <a:off x="548640" y="5989320"/>
            <a:ext cx="10515600" cy="457200"/>
          </a:xfrm>
          <a:prstGeom prst="rect">
            <a:avLst/>
          </a:prstGeom>
          <a:noFill/>
          <a:ln/>
        </p:spPr>
        <p:txBody>
          <a:bodyPr wrap="square" lIns="0" tIns="0" rIns="0" bIns="0" rtlCol="0" anchor="ctr"/>
          <a:lstStyle/>
          <a:p>
            <a:pPr indent="0" marL="0">
              <a:buNone/>
            </a:pPr>
            <a:r>
              <a:rPr lang="en-US" sz="1600" i="1" dirty="0">
                <a:solidFill>
                  <a:srgbClr val="02C39A"/>
                </a:solidFill>
                <a:latin typeface="Cambria" pitchFamily="34" charset="0"/>
                <a:ea typeface="Cambria" pitchFamily="34" charset="-122"/>
                <a:cs typeface="Cambria" pitchFamily="34" charset="-120"/>
              </a:rPr>
              <a:t>GP_42  ·  AttendChain  ·  Thank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2026-09-30T07:14:16Z</dcterms:created>
  <dcterms:modified xsi:type="dcterms:W3CDTF">2026-09-30T07:14:16Z</dcterms:modified>
</cp:coreProperties>
</file>